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54"/>
  </p:notesMasterIdLst>
  <p:handoutMasterIdLst>
    <p:handoutMasterId r:id="rId55"/>
  </p:handoutMasterIdLst>
  <p:sldIdLst>
    <p:sldId id="256" r:id="rId14"/>
    <p:sldId id="257" r:id="rId15"/>
    <p:sldId id="258" r:id="rId16"/>
    <p:sldId id="259" r:id="rId17"/>
    <p:sldId id="260" r:id="rId18"/>
    <p:sldId id="261" r:id="rId19"/>
    <p:sldId id="262" r:id="rId20"/>
    <p:sldId id="263" r:id="rId21"/>
    <p:sldId id="264" r:id="rId22"/>
  </p:sldIdLst>
  <p:sldSz cx="12192000" cy="6858000"/>
  <p:notesSz cx="7315200" cy="96012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1" autoAdjust="0"/>
    <p:restoredTop sz="94726"/>
  </p:normalViewPr>
  <p:slideViewPr>
    <p:cSldViewPr snapToGrid="0">
      <p:cViewPr varScale="1">
        <p:scale>
          <a:sx n="120" d="100"/>
          <a:sy n="120" d="100"/>
        </p:scale>
        <p:origin x="1112" y="184"/>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54" Type="http://schemas.openxmlformats.org/officeDocument/2006/relationships/notesMaster" Target="notesMasters/notesMaster1.xml"/><Relationship Id="rId55" Type="http://schemas.openxmlformats.org/officeDocument/2006/relationships/handoutMaster" Target="handoutMasters/handoutMaster1.xml"/><Relationship Id="rId56" Type="http://schemas.openxmlformats.org/officeDocument/2006/relationships/tags" Target="tags/tag1.xml"/><Relationship Id="rId57" Type="http://schemas.openxmlformats.org/officeDocument/2006/relationships/commentAuthors" Target="commentAuthor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2026-01-05</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‹n°›</a:t>
            </a:fld>
            <a:endParaRPr lang="en-US" noProof="0"/>
          </a:p>
        </p:txBody>
      </p:sp>
      <p:sp>
        <p:nvSpPr>
          <p:cNvPr id="5" name="ZoneTexte 4">
            <a:extLst>
              <a:ext uri="{FF2B5EF4-FFF2-40B4-BE49-F238E27FC236}">
                <a16:creationId xmlns:a16="http://schemas.microsoft.com/office/drawing/2014/main" id="{BB0C3CE7-7C87-CCC2-F804-F3CC7FBD80E8}"/>
              </a:ext>
            </a:extLst>
          </p:cNvPr>
          <p:cNvSpPr txBox="1"/>
          <p:nvPr userDrawn="1"/>
        </p:nvSpPr>
        <p:spPr>
          <a:xfrm>
            <a:off x="1133061" y="6440557"/>
            <a:ext cx="0" cy="0"/>
          </a:xfrm>
          <a:prstGeom prst="rect">
            <a:avLst/>
          </a:prstGeom>
        </p:spPr>
        <p:txBody>
          <a:bodyPr vert="horz" wrap="none" lIns="0" tIns="0" rIns="0" bIns="0" rtlCol="0" anchor="t" anchorCtr="0">
            <a:normAutofit fontScale="25000" lnSpcReduction="20000"/>
          </a:bodyPr>
          <a:lstStyle/>
          <a:p>
            <a:pPr algn="l"/>
            <a:endParaRPr lang="fr-FR" dirty="0"/>
          </a:p>
        </p:txBody>
      </p:sp>
      <p:sp>
        <p:nvSpPr>
          <p:cNvPr id="6" name="ZoneTexte 5">
            <a:extLst>
              <a:ext uri="{FF2B5EF4-FFF2-40B4-BE49-F238E27FC236}">
                <a16:creationId xmlns:a16="http://schemas.microsoft.com/office/drawing/2014/main" id="{07EBAA5B-7002-82C8-C5E5-013B05CD17C9}"/>
              </a:ext>
            </a:extLst>
          </p:cNvPr>
          <p:cNvSpPr txBox="1"/>
          <p:nvPr userDrawn="1"/>
        </p:nvSpPr>
        <p:spPr>
          <a:xfrm>
            <a:off x="993913" y="6420678"/>
            <a:ext cx="0" cy="0"/>
          </a:xfrm>
          <a:prstGeom prst="rect">
            <a:avLst/>
          </a:prstGeom>
        </p:spPr>
        <p:txBody>
          <a:bodyPr vert="horz" wrap="none" lIns="0" tIns="0" rIns="0" bIns="0" rtlCol="0" anchor="t" anchorCtr="0">
            <a:normAutofit fontScale="25000" lnSpcReduction="20000"/>
          </a:bodyPr>
          <a:lstStyle/>
          <a:p>
            <a:pPr algn="l"/>
            <a:endParaRPr lang="fr-FR"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V/Resume slide – Layout 1">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CV/Resume slide layout 1 – click to add title</a:t>
            </a:r>
          </a:p>
        </p:txBody>
      </p:sp>
      <p:sp>
        <p:nvSpPr>
          <p:cNvPr id="4" name="Picture placeholder 5" descr="Photograph of Name (person the slide is referencing)">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30350"/>
            <a:ext cx="2281237" cy="2222562"/>
          </a:xfrm>
          <a:prstGeom prst="rect">
            <a:avLst/>
          </a:prstGeom>
        </p:spPr>
        <p:txBody>
          <a:bodyPr>
            <a:noAutofit/>
          </a:bodyPr>
          <a:lstStyle>
            <a:lvl1pPr marL="0" indent="0">
              <a:buNone/>
              <a:defRPr sz="1400"/>
            </a:lvl1pPr>
          </a:lstStyle>
          <a:p>
            <a:r>
              <a:rPr lang="en-US" noProof="0"/>
              <a:t>Click icon to add photo</a:t>
            </a:r>
          </a:p>
        </p:txBody>
      </p:sp>
      <p:sp>
        <p:nvSpPr>
          <p:cNvPr id="6" name="Name last name">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281236" cy="614671"/>
          </a:xfrm>
          <a:prstGeom prst="rect">
            <a:avLst/>
          </a:prstGeom>
        </p:spPr>
        <p:txBody>
          <a:bodyPr lIns="0" tIns="0" rIns="0" bIns="0">
            <a:noAutofit/>
          </a:bodyPr>
          <a:lstStyle>
            <a:lvl1pPr marL="0" indent="0">
              <a:buNone/>
              <a:defRPr sz="1600" b="1">
                <a:latin typeface="+mj-lt"/>
              </a:defRPr>
            </a:lvl1pPr>
            <a:lvl4pPr marL="1371600" indent="0">
              <a:buNone/>
              <a:defRPr/>
            </a:lvl4pPr>
          </a:lstStyle>
          <a:p>
            <a:pPr lvl="0"/>
            <a:r>
              <a:rPr lang="en-US" noProof="0"/>
              <a:t>First and Last name</a:t>
            </a:r>
          </a:p>
        </p:txBody>
      </p:sp>
      <p:sp>
        <p:nvSpPr>
          <p:cNvPr id="9" name="Personal description">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281236" cy="1364641"/>
          </a:xfrm>
          <a:prstGeom prst="rect">
            <a:avLst/>
          </a:prstGeom>
        </p:spPr>
        <p:txBody>
          <a:bodyPr lIns="0" tIns="0" rIns="0" bIns="0">
            <a:noAutofit/>
          </a:bodyPr>
          <a:lstStyle>
            <a:lvl1pPr marL="0" indent="0">
              <a:buNone/>
              <a:defRPr sz="1400" b="0"/>
            </a:lvl1pPr>
            <a:lvl4pPr marL="1371600" indent="0">
              <a:buNone/>
              <a:defRPr/>
            </a:lvl4pPr>
          </a:lstStyle>
          <a:p>
            <a:pPr lvl="0"/>
            <a:r>
              <a:rPr lang="en-US" noProof="0"/>
              <a:t>Short description</a:t>
            </a:r>
          </a:p>
        </p:txBody>
      </p:sp>
      <p:sp>
        <p:nvSpPr>
          <p:cNvPr id="13" name="Training header">
            <a:extLst>
              <a:ext uri="{FF2B5EF4-FFF2-40B4-BE49-F238E27FC236}">
                <a16:creationId xmlns:a16="http://schemas.microsoft.com/office/drawing/2014/main" id="{C58ECA42-F963-A040-A103-87B70E6AEEB5}"/>
              </a:ext>
            </a:extLst>
          </p:cNvPr>
          <p:cNvSpPr>
            <a:spLocks noGrp="1"/>
          </p:cNvSpPr>
          <p:nvPr userDrawn="1">
            <p:ph type="body" sz="quarter" idx="15" hasCustomPrompt="1"/>
          </p:nvPr>
        </p:nvSpPr>
        <p:spPr>
          <a:xfrm>
            <a:off x="3819144" y="1568845"/>
            <a:ext cx="2276856" cy="328613"/>
          </a:xfrm>
          <a:prstGeom prst="rect">
            <a:avLst/>
          </a:prstGeom>
        </p:spPr>
        <p:txBody>
          <a:bodyPr lIns="0" tIns="0" rIns="0" bIns="0">
            <a:noAutofit/>
          </a:bodyPr>
          <a:lstStyle>
            <a:lvl1pPr marL="0" indent="0">
              <a:buNone/>
              <a:defRPr sz="1600" b="1">
                <a:latin typeface="+mj-lt"/>
              </a:defRPr>
            </a:lvl1pPr>
          </a:lstStyle>
          <a:p>
            <a:pPr lvl="0"/>
            <a:r>
              <a:rPr lang="en-US" noProof="0"/>
              <a:t>Training</a:t>
            </a:r>
          </a:p>
        </p:txBody>
      </p:sp>
      <p:sp>
        <p:nvSpPr>
          <p:cNvPr id="16" name="Date 1">
            <a:extLst>
              <a:ext uri="{FF2B5EF4-FFF2-40B4-BE49-F238E27FC236}">
                <a16:creationId xmlns:a16="http://schemas.microsoft.com/office/drawing/2014/main" id="{20095CCD-CD5E-3949-AE61-F6C4C445012D}"/>
              </a:ext>
            </a:extLst>
          </p:cNvPr>
          <p:cNvSpPr>
            <a:spLocks noGrp="1"/>
          </p:cNvSpPr>
          <p:nvPr userDrawn="1">
            <p:ph type="body" sz="quarter" idx="18" hasCustomPrompt="1"/>
          </p:nvPr>
        </p:nvSpPr>
        <p:spPr>
          <a:xfrm>
            <a:off x="3819144" y="2175709"/>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4" name="Description 1">
            <a:extLst>
              <a:ext uri="{FF2B5EF4-FFF2-40B4-BE49-F238E27FC236}">
                <a16:creationId xmlns:a16="http://schemas.microsoft.com/office/drawing/2014/main" id="{AF74C33C-BE80-3E4F-AD16-B853AFB0DC94}"/>
              </a:ext>
            </a:extLst>
          </p:cNvPr>
          <p:cNvSpPr>
            <a:spLocks noGrp="1"/>
          </p:cNvSpPr>
          <p:nvPr userDrawn="1">
            <p:ph type="body" sz="quarter" idx="21" hasCustomPrompt="1"/>
          </p:nvPr>
        </p:nvSpPr>
        <p:spPr>
          <a:xfrm>
            <a:off x="3819144" y="2507105"/>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5" name="Date 2">
            <a:extLst>
              <a:ext uri="{FF2B5EF4-FFF2-40B4-BE49-F238E27FC236}">
                <a16:creationId xmlns:a16="http://schemas.microsoft.com/office/drawing/2014/main" id="{450C4AEB-3215-D247-8707-2CA376BCFA6C}"/>
              </a:ext>
            </a:extLst>
          </p:cNvPr>
          <p:cNvSpPr>
            <a:spLocks noGrp="1"/>
          </p:cNvSpPr>
          <p:nvPr userDrawn="1">
            <p:ph type="body" sz="quarter" idx="22" hasCustomPrompt="1"/>
          </p:nvPr>
        </p:nvSpPr>
        <p:spPr>
          <a:xfrm>
            <a:off x="3819144" y="3574377"/>
            <a:ext cx="2276856" cy="309600"/>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6" name="Description 2">
            <a:extLst>
              <a:ext uri="{FF2B5EF4-FFF2-40B4-BE49-F238E27FC236}">
                <a16:creationId xmlns:a16="http://schemas.microsoft.com/office/drawing/2014/main" id="{8DBD234F-66B6-D24F-8630-18330562C11D}"/>
              </a:ext>
            </a:extLst>
          </p:cNvPr>
          <p:cNvSpPr>
            <a:spLocks noGrp="1"/>
          </p:cNvSpPr>
          <p:nvPr userDrawn="1">
            <p:ph type="body" sz="quarter" idx="23" hasCustomPrompt="1"/>
          </p:nvPr>
        </p:nvSpPr>
        <p:spPr>
          <a:xfrm>
            <a:off x="3819144" y="3905772"/>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7" name="Date 3">
            <a:extLst>
              <a:ext uri="{FF2B5EF4-FFF2-40B4-BE49-F238E27FC236}">
                <a16:creationId xmlns:a16="http://schemas.microsoft.com/office/drawing/2014/main" id="{91D5779F-40F4-114C-8F51-0E0ED5801647}"/>
              </a:ext>
            </a:extLst>
          </p:cNvPr>
          <p:cNvSpPr>
            <a:spLocks noGrp="1"/>
          </p:cNvSpPr>
          <p:nvPr userDrawn="1">
            <p:ph type="body" sz="quarter" idx="24" hasCustomPrompt="1"/>
          </p:nvPr>
        </p:nvSpPr>
        <p:spPr>
          <a:xfrm>
            <a:off x="3819144" y="49701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28" name="Description 3">
            <a:extLst>
              <a:ext uri="{FF2B5EF4-FFF2-40B4-BE49-F238E27FC236}">
                <a16:creationId xmlns:a16="http://schemas.microsoft.com/office/drawing/2014/main" id="{02D4596C-769E-D04E-A5B1-EC681DAEE8E2}"/>
              </a:ext>
            </a:extLst>
          </p:cNvPr>
          <p:cNvSpPr>
            <a:spLocks noGrp="1"/>
          </p:cNvSpPr>
          <p:nvPr userDrawn="1">
            <p:ph type="body" sz="quarter" idx="25" hasCustomPrompt="1"/>
          </p:nvPr>
        </p:nvSpPr>
        <p:spPr>
          <a:xfrm>
            <a:off x="3819144"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4" name="Experience header">
            <a:extLst>
              <a:ext uri="{FF2B5EF4-FFF2-40B4-BE49-F238E27FC236}">
                <a16:creationId xmlns:a16="http://schemas.microsoft.com/office/drawing/2014/main" id="{98004762-0448-1B4A-8FEF-D3D363CEA960}"/>
              </a:ext>
            </a:extLst>
          </p:cNvPr>
          <p:cNvSpPr>
            <a:spLocks noGrp="1"/>
          </p:cNvSpPr>
          <p:nvPr userDrawn="1">
            <p:ph type="body" sz="quarter" idx="16" hasCustomPrompt="1"/>
          </p:nvPr>
        </p:nvSpPr>
        <p:spPr>
          <a:xfrm>
            <a:off x="6496430"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Experience</a:t>
            </a:r>
          </a:p>
        </p:txBody>
      </p:sp>
      <p:sp>
        <p:nvSpPr>
          <p:cNvPr id="40" name="Date 4">
            <a:extLst>
              <a:ext uri="{FF2B5EF4-FFF2-40B4-BE49-F238E27FC236}">
                <a16:creationId xmlns:a16="http://schemas.microsoft.com/office/drawing/2014/main" id="{47888554-5D19-8841-B473-5B61BFF2C10C}"/>
              </a:ext>
            </a:extLst>
          </p:cNvPr>
          <p:cNvSpPr>
            <a:spLocks noGrp="1"/>
          </p:cNvSpPr>
          <p:nvPr userDrawn="1">
            <p:ph type="body" sz="quarter" idx="26" hasCustomPrompt="1"/>
          </p:nvPr>
        </p:nvSpPr>
        <p:spPr>
          <a:xfrm>
            <a:off x="6496430" y="21714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41" name="Description 4">
            <a:extLst>
              <a:ext uri="{FF2B5EF4-FFF2-40B4-BE49-F238E27FC236}">
                <a16:creationId xmlns:a16="http://schemas.microsoft.com/office/drawing/2014/main" id="{3970DAEB-7645-454B-8955-9052575C98F7}"/>
              </a:ext>
            </a:extLst>
          </p:cNvPr>
          <p:cNvSpPr>
            <a:spLocks noGrp="1"/>
          </p:cNvSpPr>
          <p:nvPr userDrawn="1">
            <p:ph type="body" sz="quarter" idx="27" hasCustomPrompt="1"/>
          </p:nvPr>
        </p:nvSpPr>
        <p:spPr>
          <a:xfrm>
            <a:off x="6496430" y="2502801"/>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2" name="Date 5">
            <a:extLst>
              <a:ext uri="{FF2B5EF4-FFF2-40B4-BE49-F238E27FC236}">
                <a16:creationId xmlns:a16="http://schemas.microsoft.com/office/drawing/2014/main" id="{65E9429C-4B9C-2C44-8067-2A7B97747993}"/>
              </a:ext>
            </a:extLst>
          </p:cNvPr>
          <p:cNvSpPr>
            <a:spLocks noGrp="1"/>
          </p:cNvSpPr>
          <p:nvPr userDrawn="1">
            <p:ph type="body" sz="quarter" idx="28" hasCustomPrompt="1"/>
          </p:nvPr>
        </p:nvSpPr>
        <p:spPr>
          <a:xfrm>
            <a:off x="6496430" y="3583521"/>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3" name="Description 5">
            <a:extLst>
              <a:ext uri="{FF2B5EF4-FFF2-40B4-BE49-F238E27FC236}">
                <a16:creationId xmlns:a16="http://schemas.microsoft.com/office/drawing/2014/main" id="{C620E413-434A-AD48-9D92-DFC651AFAD06}"/>
              </a:ext>
            </a:extLst>
          </p:cNvPr>
          <p:cNvSpPr>
            <a:spLocks noGrp="1"/>
          </p:cNvSpPr>
          <p:nvPr userDrawn="1">
            <p:ph type="body" sz="quarter" idx="29" hasCustomPrompt="1"/>
          </p:nvPr>
        </p:nvSpPr>
        <p:spPr>
          <a:xfrm>
            <a:off x="6496430" y="3914917"/>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4" name="Date 6">
            <a:extLst>
              <a:ext uri="{FF2B5EF4-FFF2-40B4-BE49-F238E27FC236}">
                <a16:creationId xmlns:a16="http://schemas.microsoft.com/office/drawing/2014/main" id="{7CF6FBAA-EDE5-FB49-866C-B8EBCF06E86D}"/>
              </a:ext>
            </a:extLst>
          </p:cNvPr>
          <p:cNvSpPr>
            <a:spLocks noGrp="1"/>
          </p:cNvSpPr>
          <p:nvPr userDrawn="1">
            <p:ph type="body" sz="quarter" idx="30" hasCustomPrompt="1"/>
          </p:nvPr>
        </p:nvSpPr>
        <p:spPr>
          <a:xfrm>
            <a:off x="6496430" y="4970105"/>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5" name="Description 6">
            <a:extLst>
              <a:ext uri="{FF2B5EF4-FFF2-40B4-BE49-F238E27FC236}">
                <a16:creationId xmlns:a16="http://schemas.microsoft.com/office/drawing/2014/main" id="{CBAB841A-326D-C24E-9D5D-1F837FD3C32A}"/>
              </a:ext>
            </a:extLst>
          </p:cNvPr>
          <p:cNvSpPr>
            <a:spLocks noGrp="1"/>
          </p:cNvSpPr>
          <p:nvPr userDrawn="1">
            <p:ph type="body" sz="quarter" idx="31" hasCustomPrompt="1"/>
          </p:nvPr>
        </p:nvSpPr>
        <p:spPr>
          <a:xfrm>
            <a:off x="6496430"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5" name="Skills header">
            <a:extLst>
              <a:ext uri="{FF2B5EF4-FFF2-40B4-BE49-F238E27FC236}">
                <a16:creationId xmlns:a16="http://schemas.microsoft.com/office/drawing/2014/main" id="{A8684217-8B73-6846-8964-A3D5A8B8F819}"/>
              </a:ext>
            </a:extLst>
          </p:cNvPr>
          <p:cNvSpPr>
            <a:spLocks noGrp="1"/>
          </p:cNvSpPr>
          <p:nvPr userDrawn="1">
            <p:ph type="body" sz="quarter" idx="17" hasCustomPrompt="1"/>
          </p:nvPr>
        </p:nvSpPr>
        <p:spPr>
          <a:xfrm>
            <a:off x="9146542"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Skills</a:t>
            </a:r>
          </a:p>
        </p:txBody>
      </p:sp>
      <p:sp>
        <p:nvSpPr>
          <p:cNvPr id="47" name="Skill 1">
            <a:extLst>
              <a:ext uri="{FF2B5EF4-FFF2-40B4-BE49-F238E27FC236}">
                <a16:creationId xmlns:a16="http://schemas.microsoft.com/office/drawing/2014/main" id="{243ED50F-FE73-A540-9506-CF3FA6620F75}"/>
              </a:ext>
            </a:extLst>
          </p:cNvPr>
          <p:cNvSpPr>
            <a:spLocks noGrp="1"/>
          </p:cNvSpPr>
          <p:nvPr userDrawn="1">
            <p:ph type="body" sz="quarter" idx="33" hasCustomPrompt="1"/>
          </p:nvPr>
        </p:nvSpPr>
        <p:spPr>
          <a:xfrm>
            <a:off x="9146542" y="2183913"/>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1" name="Rectangle 70">
            <a:extLst>
              <a:ext uri="{FF2B5EF4-FFF2-40B4-BE49-F238E27FC236}">
                <a16:creationId xmlns:a16="http://schemas.microsoft.com/office/drawing/2014/main" id="{A3E2C9B9-D123-9140-9766-89B60B158F43}"/>
              </a:ext>
              <a:ext uri="{C183D7F6-B498-43B3-948B-1728B52AA6E4}">
                <adec:decorative xmlns:adec="http://schemas.microsoft.com/office/drawing/2017/decorative" val="1"/>
              </a:ext>
            </a:extLst>
          </p:cNvPr>
          <p:cNvSpPr>
            <a:spLocks/>
          </p:cNvSpPr>
          <p:nvPr userDrawn="1"/>
        </p:nvSpPr>
        <p:spPr bwMode="gray">
          <a:xfrm>
            <a:off x="9146542" y="2502502"/>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8" name="Skill 2">
            <a:extLst>
              <a:ext uri="{FF2B5EF4-FFF2-40B4-BE49-F238E27FC236}">
                <a16:creationId xmlns:a16="http://schemas.microsoft.com/office/drawing/2014/main" id="{2CCFDE26-46F5-944F-8BF0-84097E7D3521}"/>
              </a:ext>
            </a:extLst>
          </p:cNvPr>
          <p:cNvSpPr>
            <a:spLocks noGrp="1"/>
          </p:cNvSpPr>
          <p:nvPr userDrawn="1">
            <p:ph type="body" sz="quarter" idx="34" hasCustomPrompt="1"/>
          </p:nvPr>
        </p:nvSpPr>
        <p:spPr>
          <a:xfrm>
            <a:off x="9146542" y="2882115"/>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2" name="Rectangle 71">
            <a:extLst>
              <a:ext uri="{FF2B5EF4-FFF2-40B4-BE49-F238E27FC236}">
                <a16:creationId xmlns:a16="http://schemas.microsoft.com/office/drawing/2014/main" id="{B3DD6D09-F468-D841-BF43-54F32E303D62}"/>
              </a:ext>
              <a:ext uri="{C183D7F6-B498-43B3-948B-1728B52AA6E4}">
                <adec:decorative xmlns:adec="http://schemas.microsoft.com/office/drawing/2017/decorative" val="1"/>
              </a:ext>
            </a:extLst>
          </p:cNvPr>
          <p:cNvSpPr>
            <a:spLocks/>
          </p:cNvSpPr>
          <p:nvPr userDrawn="1"/>
        </p:nvSpPr>
        <p:spPr bwMode="gray">
          <a:xfrm>
            <a:off x="9146542" y="320887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9" name="Skill 3">
            <a:extLst>
              <a:ext uri="{FF2B5EF4-FFF2-40B4-BE49-F238E27FC236}">
                <a16:creationId xmlns:a16="http://schemas.microsoft.com/office/drawing/2014/main" id="{FC6B7BD4-1B8A-954F-85B0-4D37B7C641E0}"/>
              </a:ext>
            </a:extLst>
          </p:cNvPr>
          <p:cNvSpPr>
            <a:spLocks noGrp="1"/>
          </p:cNvSpPr>
          <p:nvPr userDrawn="1">
            <p:ph type="body" sz="quarter" idx="35" hasCustomPrompt="1"/>
          </p:nvPr>
        </p:nvSpPr>
        <p:spPr>
          <a:xfrm>
            <a:off x="9146542" y="356744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3" name="Rectangle 72">
            <a:extLst>
              <a:ext uri="{FF2B5EF4-FFF2-40B4-BE49-F238E27FC236}">
                <a16:creationId xmlns:a16="http://schemas.microsoft.com/office/drawing/2014/main" id="{2298873A-8C14-B343-A7CC-7FB17B3A9CBE}"/>
              </a:ext>
              <a:ext uri="{C183D7F6-B498-43B3-948B-1728B52AA6E4}">
                <adec:decorative xmlns:adec="http://schemas.microsoft.com/office/drawing/2017/decorative" val="1"/>
              </a:ext>
            </a:extLst>
          </p:cNvPr>
          <p:cNvSpPr>
            <a:spLocks/>
          </p:cNvSpPr>
          <p:nvPr userDrawn="1"/>
        </p:nvSpPr>
        <p:spPr bwMode="gray">
          <a:xfrm>
            <a:off x="9146542" y="3887637"/>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0" name="Skill 4">
            <a:extLst>
              <a:ext uri="{FF2B5EF4-FFF2-40B4-BE49-F238E27FC236}">
                <a16:creationId xmlns:a16="http://schemas.microsoft.com/office/drawing/2014/main" id="{133898AB-EC8E-4C43-B65F-51B268B0E383}"/>
              </a:ext>
            </a:extLst>
          </p:cNvPr>
          <p:cNvSpPr>
            <a:spLocks noGrp="1"/>
          </p:cNvSpPr>
          <p:nvPr userDrawn="1">
            <p:ph type="body" sz="quarter" idx="36" hasCustomPrompt="1"/>
          </p:nvPr>
        </p:nvSpPr>
        <p:spPr>
          <a:xfrm>
            <a:off x="9146542" y="4270366"/>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4" name="Rectangle 73">
            <a:extLst>
              <a:ext uri="{FF2B5EF4-FFF2-40B4-BE49-F238E27FC236}">
                <a16:creationId xmlns:a16="http://schemas.microsoft.com/office/drawing/2014/main" id="{90A4235C-75A4-A243-B4A1-0BC434FED741}"/>
              </a:ext>
              <a:ext uri="{C183D7F6-B498-43B3-948B-1728B52AA6E4}">
                <adec:decorative xmlns:adec="http://schemas.microsoft.com/office/drawing/2017/decorative" val="1"/>
              </a:ext>
            </a:extLst>
          </p:cNvPr>
          <p:cNvSpPr>
            <a:spLocks/>
          </p:cNvSpPr>
          <p:nvPr userDrawn="1"/>
        </p:nvSpPr>
        <p:spPr bwMode="gray">
          <a:xfrm>
            <a:off x="9146542" y="459394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1" name="Skill 5">
            <a:extLst>
              <a:ext uri="{FF2B5EF4-FFF2-40B4-BE49-F238E27FC236}">
                <a16:creationId xmlns:a16="http://schemas.microsoft.com/office/drawing/2014/main" id="{248D277D-8ACF-F147-B6AA-2FEB83B1B063}"/>
              </a:ext>
            </a:extLst>
          </p:cNvPr>
          <p:cNvSpPr>
            <a:spLocks noGrp="1"/>
          </p:cNvSpPr>
          <p:nvPr userDrawn="1">
            <p:ph type="body" sz="quarter" idx="37" hasCustomPrompt="1"/>
          </p:nvPr>
        </p:nvSpPr>
        <p:spPr>
          <a:xfrm>
            <a:off x="9146542" y="4982068"/>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5" name="Rectangle 74">
            <a:extLst>
              <a:ext uri="{FF2B5EF4-FFF2-40B4-BE49-F238E27FC236}">
                <a16:creationId xmlns:a16="http://schemas.microsoft.com/office/drawing/2014/main" id="{A9CFB8E7-7827-3844-9CD8-99084B3B5665}"/>
              </a:ext>
              <a:ext uri="{C183D7F6-B498-43B3-948B-1728B52AA6E4}">
                <adec:decorative xmlns:adec="http://schemas.microsoft.com/office/drawing/2017/decorative" val="1"/>
              </a:ext>
            </a:extLst>
          </p:cNvPr>
          <p:cNvSpPr>
            <a:spLocks/>
          </p:cNvSpPr>
          <p:nvPr userDrawn="1"/>
        </p:nvSpPr>
        <p:spPr bwMode="gray">
          <a:xfrm>
            <a:off x="9146542" y="5301603"/>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6" name="Skill 6">
            <a:extLst>
              <a:ext uri="{FF2B5EF4-FFF2-40B4-BE49-F238E27FC236}">
                <a16:creationId xmlns:a16="http://schemas.microsoft.com/office/drawing/2014/main" id="{95AD3CFD-2DE9-C943-BA43-8B744BAD8A28}"/>
              </a:ext>
            </a:extLst>
          </p:cNvPr>
          <p:cNvSpPr>
            <a:spLocks noGrp="1"/>
          </p:cNvSpPr>
          <p:nvPr userDrawn="1">
            <p:ph type="body" sz="quarter" idx="32" hasCustomPrompt="1"/>
          </p:nvPr>
        </p:nvSpPr>
        <p:spPr>
          <a:xfrm>
            <a:off x="9146542" y="568906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6" name="Rectangle 75">
            <a:extLst>
              <a:ext uri="{FF2B5EF4-FFF2-40B4-BE49-F238E27FC236}">
                <a16:creationId xmlns:a16="http://schemas.microsoft.com/office/drawing/2014/main" id="{9ADD0EBE-315C-554F-B291-C50A3881353F}"/>
              </a:ext>
              <a:ext uri="{C183D7F6-B498-43B3-948B-1728B52AA6E4}">
                <adec:decorative xmlns:adec="http://schemas.microsoft.com/office/drawing/2017/decorative" val="1"/>
              </a:ext>
            </a:extLst>
          </p:cNvPr>
          <p:cNvSpPr>
            <a:spLocks/>
          </p:cNvSpPr>
          <p:nvPr userDrawn="1"/>
        </p:nvSpPr>
        <p:spPr bwMode="gray">
          <a:xfrm>
            <a:off x="9146542" y="6015718"/>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B33217FD-C179-A7C3-F298-CD2006B9AAC8}"/>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17" name="Slide Number Placeholder 16">
            <a:extLst>
              <a:ext uri="{FF2B5EF4-FFF2-40B4-BE49-F238E27FC236}">
                <a16:creationId xmlns:a16="http://schemas.microsoft.com/office/drawing/2014/main" id="{139F4668-3C2C-FCAD-4589-3629BE2114EA}"/>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7795726"/>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V/Resume slide – Layout 2A">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defRPr>
            </a:lvl1pPr>
          </a:lstStyle>
          <a:p>
            <a:r>
              <a:rPr lang="en-US" noProof="0"/>
              <a:t>CV/Resume layout 2A – click to add name</a:t>
            </a:r>
          </a:p>
        </p:txBody>
      </p:sp>
      <p:sp>
        <p:nvSpPr>
          <p:cNvPr id="19" name="Cornerstone">
            <a:extLst>
              <a:ext uri="{FF2B5EF4-FFF2-40B4-BE49-F238E27FC236}">
                <a16:creationId xmlns:a16="http://schemas.microsoft.com/office/drawing/2014/main" id="{5C45700E-216F-B143-AB3D-B415EEE0460A}"/>
              </a:ext>
              <a:ext uri="{C183D7F6-B498-43B3-948B-1728B52AA6E4}">
                <adec:decorative xmlns:adec="http://schemas.microsoft.com/office/drawing/2017/decorative" val="1"/>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71205"/>
            <a:ext cx="1268099" cy="1268099"/>
          </a:xfrm>
          <a:prstGeom prst="rect">
            <a:avLst/>
          </a:prstGeom>
        </p:spPr>
        <p:txBody>
          <a:bodyPr/>
          <a:lstStyle>
            <a:lvl1pPr marL="0" indent="0">
              <a:buNone/>
              <a:defRPr sz="1400"/>
            </a:lvl1pPr>
          </a:lstStyle>
          <a:p>
            <a:r>
              <a:rPr lang="en-US" noProof="0" dirty="0"/>
              <a:t>Click icon to add photo</a:t>
            </a:r>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2" name="Education heading 9">
            <a:extLst>
              <a:ext uri="{FF2B5EF4-FFF2-40B4-BE49-F238E27FC236}">
                <a16:creationId xmlns:a16="http://schemas.microsoft.com/office/drawing/2014/main" id="{1FD8F504-46E4-155F-8089-722C75F57C44}"/>
              </a:ext>
            </a:extLst>
          </p:cNvPr>
          <p:cNvSpPr>
            <a:spLocks noGrp="1"/>
          </p:cNvSpPr>
          <p:nvPr>
            <p:ph type="body" sz="quarter" idx="24" hasCustomPrompt="1"/>
          </p:nvPr>
        </p:nvSpPr>
        <p:spPr>
          <a:xfrm>
            <a:off x="766618" y="2171195"/>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18174"/>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0482"/>
            <a:ext cx="9115474" cy="173736"/>
          </a:xfrm>
          <a:prstGeom prst="rect">
            <a:avLst/>
          </a:prstGeom>
          <a:noFill/>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12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pic>
        <p:nvPicPr>
          <p:cNvPr id="18" name="CGI Logo">
            <a:extLst>
              <a:ext uri="{FF2B5EF4-FFF2-40B4-BE49-F238E27FC236}">
                <a16:creationId xmlns:a16="http://schemas.microsoft.com/office/drawing/2014/main" id="{8B094C90-E1A2-9948-AB43-B471059D60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
        <p:nvSpPr>
          <p:cNvPr id="9" name="Footer Placeholder 8">
            <a:extLst>
              <a:ext uri="{FF2B5EF4-FFF2-40B4-BE49-F238E27FC236}">
                <a16:creationId xmlns:a16="http://schemas.microsoft.com/office/drawing/2014/main" id="{BDC0B927-1636-F1BA-BE47-8BD02F852C75}"/>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3" name="Slide Number Placeholder 16">
            <a:extLst>
              <a:ext uri="{FF2B5EF4-FFF2-40B4-BE49-F238E27FC236}">
                <a16:creationId xmlns:a16="http://schemas.microsoft.com/office/drawing/2014/main" id="{CE0B31F8-A870-7693-D541-9C870D5181B2}"/>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8072286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fr-CA" noProof="0"/>
              <a:t>Cliquez sur l'icône pour ajouter une image</a:t>
            </a:r>
            <a:endParaRPr lang="en-US" noProof="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V/Resume slide – Continue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1F92AF6-A857-408E-8673-15B7E330B07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CV/Resume continuation slide – click to add name</a:t>
            </a:r>
          </a:p>
        </p:txBody>
      </p:sp>
      <p:sp>
        <p:nvSpPr>
          <p:cNvPr id="9" name="Focus areas header">
            <a:extLst>
              <a:ext uri="{FF2B5EF4-FFF2-40B4-BE49-F238E27FC236}">
                <a16:creationId xmlns:a16="http://schemas.microsoft.com/office/drawing/2014/main" id="{59C86A1D-A4E8-CD4E-A3FF-1266A7F082DD}"/>
              </a:ext>
            </a:extLst>
          </p:cNvPr>
          <p:cNvSpPr>
            <a:spLocks noGrp="1"/>
          </p:cNvSpPr>
          <p:nvPr>
            <p:ph type="body" sz="quarter" idx="24" hasCustomPrompt="1"/>
          </p:nvPr>
        </p:nvSpPr>
        <p:spPr>
          <a:xfrm>
            <a:off x="768232" y="1566229"/>
            <a:ext cx="1279052"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r>
              <a:rPr lang="en-US" sz="1200" b="1" noProof="0">
                <a:solidFill>
                  <a:srgbClr val="5135AA"/>
                </a:solidFill>
                <a:effectLst/>
                <a:latin typeface="Arial" pitchFamily="34" charset="0"/>
              </a:rPr>
              <a:t>Focus areas</a:t>
            </a:r>
            <a:endParaRPr lang="en-US" noProof="0"/>
          </a:p>
        </p:txBody>
      </p:sp>
      <p:sp>
        <p:nvSpPr>
          <p:cNvPr id="5" name="Focus area text placeholder">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5737" y="1828795"/>
            <a:ext cx="1280160" cy="1754377"/>
          </a:xfrm>
          <a:prstGeom prst="rect">
            <a:avLst/>
          </a:prstGeom>
        </p:spPr>
        <p:txBody>
          <a:bodyPr lIns="0" tIns="0" rIns="0" bIns="0"/>
          <a:lstStyle>
            <a:lvl1pPr marL="0" indent="0">
              <a:lnSpc>
                <a:spcPct val="100000"/>
              </a:lnSpc>
              <a:spcBef>
                <a:spcPct val="0"/>
              </a:spcBef>
              <a:spcAft>
                <a:spcPts val="600"/>
              </a:spcAft>
              <a:buNone/>
              <a:defRPr sz="1000" b="0">
                <a:solidFill>
                  <a:schemeClr val="tx1"/>
                </a:solidFill>
              </a:defRPr>
            </a:lvl1pPr>
          </a:lstStyle>
          <a:p>
            <a:pPr lvl="0"/>
            <a:r>
              <a:rPr lang="en-US" noProof="0"/>
              <a:t>Text</a:t>
            </a:r>
          </a:p>
        </p:txBody>
      </p:sp>
      <p:sp>
        <p:nvSpPr>
          <p:cNvPr id="4" name="Languages header">
            <a:extLst>
              <a:ext uri="{FF2B5EF4-FFF2-40B4-BE49-F238E27FC236}">
                <a16:creationId xmlns:a16="http://schemas.microsoft.com/office/drawing/2014/main" id="{AF140CBD-8DB6-6F42-08D9-0838F6A42D07}"/>
              </a:ext>
            </a:extLst>
          </p:cNvPr>
          <p:cNvSpPr>
            <a:spLocks noGrp="1"/>
          </p:cNvSpPr>
          <p:nvPr>
            <p:ph type="body" sz="quarter" idx="28" hasCustomPrompt="1"/>
          </p:nvPr>
        </p:nvSpPr>
        <p:spPr>
          <a:xfrm>
            <a:off x="765737" y="3758179"/>
            <a:ext cx="1280160" cy="184666"/>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Languages</a:t>
            </a:r>
          </a:p>
        </p:txBody>
      </p:sp>
      <p:sp>
        <p:nvSpPr>
          <p:cNvPr id="10" name="Languages placeholder">
            <a:extLst>
              <a:ext uri="{FF2B5EF4-FFF2-40B4-BE49-F238E27FC236}">
                <a16:creationId xmlns:a16="http://schemas.microsoft.com/office/drawing/2014/main" id="{54DA4F4C-4906-9AC6-0890-4345F8BCDD59}"/>
              </a:ext>
            </a:extLst>
          </p:cNvPr>
          <p:cNvSpPr>
            <a:spLocks noGrp="1"/>
          </p:cNvSpPr>
          <p:nvPr>
            <p:ph type="body" sz="quarter" idx="29" hasCustomPrompt="1"/>
          </p:nvPr>
        </p:nvSpPr>
        <p:spPr>
          <a:xfrm>
            <a:off x="767409" y="4020317"/>
            <a:ext cx="1280160" cy="940326"/>
          </a:xfrm>
          <a:prstGeom prst="rect">
            <a:avLst/>
          </a:prstGeom>
        </p:spPr>
        <p:txBody>
          <a:bodyPr lIns="0" tIns="0" rIns="0" bIns="0"/>
          <a:lstStyle>
            <a:lvl1pPr marL="0">
              <a:lnSpc>
                <a:spcPct val="100000"/>
              </a:lnSpc>
              <a:spcBef>
                <a:spcPct val="0"/>
              </a:spcBef>
              <a:spcAft>
                <a:spcPts val="600"/>
              </a:spcAft>
              <a:buNone/>
              <a:defRPr sz="1000" b="0">
                <a:solidFill>
                  <a:schemeClr val="tx1"/>
                </a:solidFill>
              </a:defRPr>
            </a:lvl1pPr>
          </a:lstStyle>
          <a:p>
            <a:pPr lvl="0"/>
            <a:r>
              <a:rPr lang="en-US" noProof="0"/>
              <a:t>Text</a:t>
            </a:r>
          </a:p>
        </p:txBody>
      </p:sp>
      <p:sp>
        <p:nvSpPr>
          <p:cNvPr id="3" name="Other experience heading 7">
            <a:extLst>
              <a:ext uri="{FF2B5EF4-FFF2-40B4-BE49-F238E27FC236}">
                <a16:creationId xmlns:a16="http://schemas.microsoft.com/office/drawing/2014/main" id="{429756FF-67F4-6C80-85D1-5F66552EBB33}"/>
              </a:ext>
            </a:extLst>
          </p:cNvPr>
          <p:cNvSpPr>
            <a:spLocks noGrp="1"/>
          </p:cNvSpPr>
          <p:nvPr>
            <p:ph type="body" sz="quarter" idx="22" hasCustomPrompt="1"/>
          </p:nvPr>
        </p:nvSpPr>
        <p:spPr>
          <a:xfrm>
            <a:off x="2304288" y="1563624"/>
            <a:ext cx="9115474"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Other Experience</a:t>
            </a:r>
            <a:endParaRPr lang="en-US" sz="800" b="1" noProof="0">
              <a:solidFill>
                <a:schemeClr val="accent3"/>
              </a:solidFill>
            </a:endParaRPr>
          </a:p>
        </p:txBody>
      </p:sp>
      <p:sp>
        <p:nvSpPr>
          <p:cNvPr id="11" name="Other experiences placeholder">
            <a:extLst>
              <a:ext uri="{FF2B5EF4-FFF2-40B4-BE49-F238E27FC236}">
                <a16:creationId xmlns:a16="http://schemas.microsoft.com/office/drawing/2014/main" id="{5F8FE79C-1310-0D3D-FCE6-9DAB67EDCDAF}"/>
              </a:ext>
            </a:extLst>
          </p:cNvPr>
          <p:cNvSpPr>
            <a:spLocks noGrp="1"/>
          </p:cNvSpPr>
          <p:nvPr>
            <p:ph type="body" sz="quarter" idx="30" hasCustomPrompt="1"/>
          </p:nvPr>
        </p:nvSpPr>
        <p:spPr>
          <a:xfrm>
            <a:off x="2294263" y="1828795"/>
            <a:ext cx="9116568" cy="4261104"/>
          </a:xfrm>
          <a:prstGeom prst="rect">
            <a:avLst/>
          </a:prstGeom>
          <a:noFill/>
        </p:spPr>
        <p:txBody>
          <a:bodyPr lIns="0" tIns="0" rIns="0" bIns="0" numCol="1"/>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9ED99596-0F8D-5C06-9CBF-8D5373890E4D}"/>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4" name="Slide Number Placeholder 13">
            <a:extLst>
              <a:ext uri="{FF2B5EF4-FFF2-40B4-BE49-F238E27FC236}">
                <a16:creationId xmlns:a16="http://schemas.microsoft.com/office/drawing/2014/main" id="{1AF06330-50E0-3BDE-BEA3-2C15DCF034EE}"/>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36037412"/>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quote highlight x1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p>
            <a:r>
              <a:rPr lang="en-US" noProof="0"/>
              <a:t>Content highlight or quote slide (gradient A)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6" name="Text Placeholder 14">
            <a:extLst>
              <a:ext uri="{FF2B5EF4-FFF2-40B4-BE49-F238E27FC236}">
                <a16:creationId xmlns:a16="http://schemas.microsoft.com/office/drawing/2014/main" id="{1A8811CD-8CCC-C15D-A8FD-E627A316CAE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C183E39F-6799-F2B6-31CC-B075FB91CE85}"/>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5387345"/>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‹n°›</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173" r:id="rId39"/>
    <p:sldLayoutId id="2147484174" r:id="rId40"/>
    <p:sldLayoutId id="2147484271" r:id="rId41"/>
    <p:sldLayoutId id="2147484175" r:id="rId42"/>
    <p:sldLayoutId id="2147484073" r:id="rId43"/>
    <p:sldLayoutId id="2147484246" r:id="rId44"/>
    <p:sldLayoutId id="2147484316" r:id="rId45"/>
    <p:sldLayoutId id="2147484079" r:id="rId46"/>
    <p:sldLayoutId id="2147484247" r:id="rId47"/>
    <p:sldLayoutId id="2147484080" r:id="rId48"/>
    <p:sldLayoutId id="2147484248" r:id="rId49"/>
    <p:sldLayoutId id="2147484081" r:id="rId50"/>
    <p:sldLayoutId id="2147484249" r:id="rId51"/>
    <p:sldLayoutId id="2147484082" r:id="rId52"/>
    <p:sldLayoutId id="2147484267" r:id="rId53"/>
    <p:sldLayoutId id="2147484321" r:id="rId54"/>
    <p:sldLayoutId id="2147484260" r:id="rId55"/>
    <p:sldLayoutId id="2147484265" r:id="rId56"/>
    <p:sldLayoutId id="2147484261" r:id="rId57"/>
    <p:sldLayoutId id="2147484044" r:id="rId58"/>
    <p:sldLayoutId id="2147484331" r:id="rId59"/>
    <p:sldLayoutId id="2147484332" r:id="rId60"/>
    <p:sldLayoutId id="2147484333" r:id="rId61"/>
    <p:sldLayoutId id="2147484226" r:id="rId62"/>
    <p:sldLayoutId id="2147484262" r:id="rId63"/>
    <p:sldLayoutId id="2147484324" r:id="rId64"/>
    <p:sldLayoutId id="2147484263" r:id="rId65"/>
    <p:sldLayoutId id="2147484325" r:id="rId66"/>
    <p:sldLayoutId id="2147484264" r:id="rId67"/>
    <p:sldLayoutId id="2147484317" r:id="rId68"/>
    <p:sldLayoutId id="2147484146" r:id="rId69"/>
    <p:sldLayoutId id="2147484145" r:id="rId70"/>
    <p:sldLayoutId id="2147484219" r:id="rId71"/>
    <p:sldLayoutId id="2147484255" r:id="rId72"/>
    <p:sldLayoutId id="2147484256" r:id="rId73"/>
    <p:sldLayoutId id="2147484257" r:id="rId74"/>
    <p:sldLayoutId id="2147484266" r:id="rId75"/>
    <p:sldLayoutId id="2147484259" r:id="rId76"/>
    <p:sldLayoutId id="2147484322" r:id="rId77"/>
    <p:sldLayoutId id="2147484268" r:id="rId78"/>
    <p:sldLayoutId id="2147484270" r:id="rId79"/>
    <p:sldLayoutId id="2147484239" r:id="rId80"/>
    <p:sldLayoutId id="2147484251" r:id="rId81"/>
    <p:sldLayoutId id="2147484240" r:id="rId82"/>
    <p:sldLayoutId id="2147484253" r:id="rId83"/>
    <p:sldLayoutId id="2147484323" r:id="rId84"/>
    <p:sldLayoutId id="2147484326" r:id="rId85"/>
    <p:sldLayoutId id="2147484241" r:id="rId86"/>
    <p:sldLayoutId id="2147484252" r:id="rId87"/>
    <p:sldLayoutId id="2147484242" r:id="rId88"/>
    <p:sldLayoutId id="2147484327" r:id="rId89"/>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Tender Intelligence</a:t>
            </a:r>
          </a:p>
        </p:txBody>
      </p:sp>
      <p:sp>
        <p:nvSpPr>
          <p:cNvPr id="3" name="Text Placeholder 2"/>
          <p:cNvSpPr>
            <a:spLocks noGrp="1"/>
          </p:cNvSpPr>
          <p:nvPr>
            <p:ph type="body" idx="14" sz="quarter"/>
          </p:nvPr>
        </p:nvSpPr>
        <p:spPr/>
        <p:txBody>
          <a:bodyPr/>
          <a:lstStyle/>
          <a:p>
            <a:r>
              <a:t>Automated Public Sector Tender Monitoring for CGI</a:t>
            </a:r>
          </a:p>
          <a:p/>
          <a:p>
            <a:r>
              <a:t>Working Proof of Concept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CGI Experts Receive</a:t>
            </a:r>
          </a:p>
        </p:txBody>
      </p:sp>
      <p:pic>
        <p:nvPicPr>
          <p:cNvPr id="3" name="Picture 2" descr="screenshot_email_sample.png"/>
          <p:cNvPicPr>
            <a:picLocks noChangeAspect="1"/>
          </p:cNvPicPr>
          <p:nvPr/>
        </p:nvPicPr>
        <p:blipFill>
          <a:blip r:embed="rId2"/>
          <a:stretch>
            <a:fillRect/>
          </a:stretch>
        </p:blipFill>
        <p:spPr>
          <a:xfrm>
            <a:off x="457200" y="1097280"/>
            <a:ext cx="10424160" cy="5391245"/>
          </a:xfrm>
          <a:prstGeom prst="rect">
            <a:avLst/>
          </a:prstGeom>
        </p:spPr>
      </p:pic>
      <p:sp>
        <p:nvSpPr>
          <p:cNvPr id="4" name="TextBox 3"/>
          <p:cNvSpPr txBox="1"/>
          <p:nvPr/>
        </p:nvSpPr>
        <p:spPr>
          <a:xfrm>
            <a:off x="8046720" y="1280160"/>
            <a:ext cx="3931920" cy="365760"/>
          </a:xfrm>
          <a:prstGeom prst="rect">
            <a:avLst/>
          </a:prstGeom>
          <a:noFill/>
        </p:spPr>
        <p:txBody>
          <a:bodyPr wrap="square">
            <a:spAutoFit/>
          </a:bodyPr>
          <a:lstStyle/>
          <a:p>
            <a:pPr algn="l">
              <a:defRPr sz="1600" b="1">
                <a:solidFill>
                  <a:srgbClr val="0079C1"/>
                </a:solidFill>
              </a:defRPr>
            </a:pPr>
            <a:r>
              <a:t>Daily email per department:</a:t>
            </a:r>
          </a:p>
        </p:txBody>
      </p:sp>
      <p:sp>
        <p:nvSpPr>
          <p:cNvPr id="5" name="TextBox 4"/>
          <p:cNvSpPr txBox="1"/>
          <p:nvPr/>
        </p:nvSpPr>
        <p:spPr>
          <a:xfrm>
            <a:off x="8046720" y="1737360"/>
            <a:ext cx="3931920" cy="4206240"/>
          </a:xfrm>
          <a:prstGeom prst="rect">
            <a:avLst/>
          </a:prstGeom>
          <a:noFill/>
        </p:spPr>
        <p:txBody>
          <a:bodyPr wrap="square">
            <a:spAutoFit/>
          </a:bodyPr>
          <a:lstStyle/>
          <a:p>
            <a:pPr algn="l">
              <a:defRPr sz="1400" b="0">
                <a:solidFill>
                  <a:srgbClr val="333333"/>
                </a:solidFill>
              </a:defRPr>
            </a:pPr>
            <a:r>
              <a:t>Each department receives one email</a:t>
            </a:r>
            <a:br/>
            <a:r>
              <a:t>containing only their relevant tenders.</a:t>
            </a:r>
            <a:br/>
            <a:br/>
            <a:r>
              <a:t>For each tender:</a:t>
            </a:r>
            <a:br/>
            <a:r>
              <a:t>  • Clickable link to tarjouspalvelu.fi</a:t>
            </a:r>
            <a:br/>
            <a:r>
              <a:t>  • Organization and deadline</a:t>
            </a:r>
            <a:br/>
            <a:r>
              <a:t>  • AI-generated summary:</a:t>
            </a:r>
            <a:br/>
            <a:r>
              <a:t>     — What is being procured</a:t>
            </a:r>
            <a:br/>
            <a:r>
              <a:t>     — Relevance to CGI</a:t>
            </a:r>
            <a:br/>
            <a:r>
              <a:t>     — Recommended action</a:t>
            </a:r>
            <a:br/>
            <a:br/>
            <a:r>
              <a:t>Tier 1A: CGI own products</a:t>
            </a:r>
            <a:br/>
            <a:r>
              <a:t>(Aromi, Raindance, Titania, etc.)</a:t>
            </a:r>
            <a:br/>
            <a:r>
              <a:t>→ Defend existing customers or</a:t>
            </a:r>
            <a:br/>
            <a:r>
              <a:t>   bid on upgrades/renewals</a:t>
            </a:r>
            <a:br/>
            <a:br/>
            <a:r>
              <a:t>Tier 1B: Partner platforms</a:t>
            </a:r>
            <a:br/>
            <a:r>
              <a:t>(SAP, Azure, ServiceNow, etc.)</a:t>
            </a:r>
            <a:br/>
            <a:r>
              <a:t>→ Bid as implementation partner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Routing Configuration</a:t>
            </a:r>
          </a:p>
        </p:txBody>
      </p:sp>
      <p:pic>
        <p:nvPicPr>
          <p:cNvPr id="3" name="Picture 2" descr="screenshot_routing_excel.png"/>
          <p:cNvPicPr>
            <a:picLocks noChangeAspect="1"/>
          </p:cNvPicPr>
          <p:nvPr/>
        </p:nvPicPr>
        <p:blipFill>
          <a:blip r:embed="rId2"/>
          <a:stretch>
            <a:fillRect/>
          </a:stretch>
        </p:blipFill>
        <p:spPr>
          <a:xfrm>
            <a:off x="274320" y="1005840"/>
            <a:ext cx="11430000" cy="5838825"/>
          </a:xfrm>
          <a:prstGeom prst="rect">
            <a:avLst/>
          </a:prstGeom>
        </p:spPr>
      </p:pic>
      <p:sp>
        <p:nvSpPr>
          <p:cNvPr id="4" name="TextBox 3"/>
          <p:cNvSpPr txBox="1"/>
          <p:nvPr/>
        </p:nvSpPr>
        <p:spPr>
          <a:xfrm>
            <a:off x="274320" y="5029200"/>
            <a:ext cx="11430000" cy="914400"/>
          </a:xfrm>
          <a:prstGeom prst="rect">
            <a:avLst/>
          </a:prstGeom>
          <a:noFill/>
        </p:spPr>
        <p:txBody>
          <a:bodyPr wrap="square">
            <a:spAutoFit/>
          </a:bodyPr>
          <a:lstStyle/>
          <a:p>
            <a:pPr algn="l">
              <a:defRPr sz="1400" b="0">
                <a:solidFill>
                  <a:srgbClr val="787878"/>
                </a:solidFill>
              </a:defRPr>
            </a:pPr>
            <a:r>
              <a:t>Non-technical users edit this Excel file to control who receives which tenders.</a:t>
            </a:r>
            <a:br/>
            <a:r>
              <a:t>Keywords are matched against tender name and description. One email per department per day.</a:t>
            </a:r>
            <a:br/>
            <a:r>
              <a:t>Tier 1 product alerts (Aromi, SAP, etc.) are handled automatically — no configuration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a:t>
            </a:r>
          </a:p>
        </p:txBody>
      </p:sp>
      <p:sp>
        <p:nvSpPr>
          <p:cNvPr id="3" name="Rounded Rectangle 2"/>
          <p:cNvSpPr/>
          <p:nvPr/>
        </p:nvSpPr>
        <p:spPr>
          <a:xfrm>
            <a:off x="274320" y="1188720"/>
            <a:ext cx="219456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tarjouspalvelu.fi</a:t>
            </a:r>
            <a:br/>
            <a:r>
              <a:t>(5,000+ tenders)</a:t>
            </a:r>
          </a:p>
        </p:txBody>
      </p:sp>
      <p:sp>
        <p:nvSpPr>
          <p:cNvPr id="4" name="Right Arrow 3"/>
          <p:cNvSpPr/>
          <p:nvPr/>
        </p:nvSpPr>
        <p:spPr>
          <a:xfrm>
            <a:off x="256032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108960" y="1188720"/>
            <a:ext cx="182880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33333"/>
                </a:solidFill>
              </a:defRPr>
            </a:pPr>
            <a:r>
              <a:t>Automated</a:t>
            </a:r>
            <a:br/>
            <a:r>
              <a:t>Scraping</a:t>
            </a:r>
          </a:p>
        </p:txBody>
      </p:sp>
      <p:sp>
        <p:nvSpPr>
          <p:cNvPr id="6" name="Right Arrow 5"/>
          <p:cNvSpPr/>
          <p:nvPr/>
        </p:nvSpPr>
        <p:spPr>
          <a:xfrm>
            <a:off x="502920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77840" y="1188720"/>
            <a:ext cx="2011680" cy="822960"/>
          </a:xfrm>
          <a:prstGeom prst="roundRect">
            <a:avLst/>
          </a:prstGeom>
          <a:solidFill>
            <a:srgbClr val="F5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Filtering</a:t>
            </a:r>
            <a:br/>
            <a:r>
              <a:t>&amp; Classification</a:t>
            </a:r>
          </a:p>
        </p:txBody>
      </p:sp>
      <p:sp>
        <p:nvSpPr>
          <p:cNvPr id="8" name="Right Arrow 7"/>
          <p:cNvSpPr/>
          <p:nvPr/>
        </p:nvSpPr>
        <p:spPr>
          <a:xfrm>
            <a:off x="768096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0" y="1188720"/>
            <a:ext cx="2011680" cy="82296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AI Summary</a:t>
            </a:r>
            <a:br/>
            <a:r>
              <a:t>(GPT-4.1)</a:t>
            </a:r>
          </a:p>
        </p:txBody>
      </p:sp>
      <p:sp>
        <p:nvSpPr>
          <p:cNvPr id="10" name="Right Arrow 9"/>
          <p:cNvSpPr/>
          <p:nvPr/>
        </p:nvSpPr>
        <p:spPr>
          <a:xfrm>
            <a:off x="1033272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881360" y="1188720"/>
            <a:ext cx="1097280" cy="82296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Store &amp;</a:t>
            </a:r>
            <a:br/>
            <a:r>
              <a:t>Route</a:t>
            </a:r>
          </a:p>
        </p:txBody>
      </p:sp>
      <p:sp>
        <p:nvSpPr>
          <p:cNvPr id="12" name="TextBox 11"/>
          <p:cNvSpPr txBox="1"/>
          <p:nvPr/>
        </p:nvSpPr>
        <p:spPr>
          <a:xfrm>
            <a:off x="4572000" y="2286000"/>
            <a:ext cx="3200400" cy="365760"/>
          </a:xfrm>
          <a:prstGeom prst="rect">
            <a:avLst/>
          </a:prstGeom>
          <a:noFill/>
        </p:spPr>
        <p:txBody>
          <a:bodyPr wrap="square">
            <a:spAutoFit/>
          </a:bodyPr>
          <a:lstStyle/>
          <a:p>
            <a:pPr algn="ctr">
              <a:defRPr sz="1600" b="1">
                <a:solidFill>
                  <a:srgbClr val="0079C1"/>
                </a:solidFill>
              </a:defRPr>
            </a:pPr>
            <a:r>
              <a:t>▼   Smart Routing   ▼</a:t>
            </a:r>
          </a:p>
        </p:txBody>
      </p:sp>
      <p:sp>
        <p:nvSpPr>
          <p:cNvPr id="13" name="Rounded Rectangle 12"/>
          <p:cNvSpPr/>
          <p:nvPr/>
        </p:nvSpPr>
        <p:spPr>
          <a:xfrm>
            <a:off x="274320" y="2834640"/>
            <a:ext cx="3474720" cy="1463040"/>
          </a:xfrm>
          <a:prstGeom prst="roundRect">
            <a:avLst/>
          </a:prstGeom>
          <a:solidFill>
            <a:srgbClr val="FFEBD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TIER 1: PRODUCT ALERTS</a:t>
            </a:r>
            <a:br/>
            <a:br/>
            <a:r>
              <a:t>1A: CGI own products (Aromi,</a:t>
            </a:r>
            <a:br/>
            <a:r>
              <a:t>Raindance, Titania, OMNI360...)</a:t>
            </a:r>
            <a:br/>
            <a:r>
              <a:t>1B: Partner platforms (SAP,</a:t>
            </a:r>
            <a:br/>
            <a:r>
              <a:t>Azure, ServiceNow, UiPath...)</a:t>
            </a:r>
          </a:p>
        </p:txBody>
      </p:sp>
      <p:sp>
        <p:nvSpPr>
          <p:cNvPr id="14" name="Rounded Rectangle 13"/>
          <p:cNvSpPr/>
          <p:nvPr/>
        </p:nvSpPr>
        <p:spPr>
          <a:xfrm>
            <a:off x="1097280" y="4343400"/>
            <a:ext cx="1645920" cy="32004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CRITICAL</a:t>
            </a:r>
          </a:p>
        </p:txBody>
      </p:sp>
      <p:sp>
        <p:nvSpPr>
          <p:cNvPr id="15" name="Rounded Rectangle 14"/>
          <p:cNvSpPr/>
          <p:nvPr/>
        </p:nvSpPr>
        <p:spPr>
          <a:xfrm>
            <a:off x="3931920" y="2834640"/>
            <a:ext cx="3474720" cy="1463040"/>
          </a:xfrm>
          <a:prstGeom prst="roundRect">
            <a:avLst/>
          </a:prstGeom>
          <a:solidFill>
            <a:srgbClr val="E0F7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TIER 2: DOMAIN MATCH</a:t>
            </a:r>
            <a:br/>
            <a:br/>
            <a:r>
              <a:t>Keywords match CGI department</a:t>
            </a:r>
            <a:br/>
            <a:r>
              <a:t>(IT, consulting, health, etc.)</a:t>
            </a:r>
            <a:br/>
            <a:br/>
            <a:r>
              <a:t>→ Daily email digest</a:t>
            </a:r>
          </a:p>
        </p:txBody>
      </p:sp>
      <p:sp>
        <p:nvSpPr>
          <p:cNvPr id="16" name="Rounded Rectangle 15"/>
          <p:cNvSpPr/>
          <p:nvPr/>
        </p:nvSpPr>
        <p:spPr>
          <a:xfrm>
            <a:off x="4754880" y="4343400"/>
            <a:ext cx="1645920" cy="3200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HIGH</a:t>
            </a:r>
          </a:p>
        </p:txBody>
      </p:sp>
      <p:sp>
        <p:nvSpPr>
          <p:cNvPr id="17" name="Rounded Rectangle 16"/>
          <p:cNvSpPr/>
          <p:nvPr/>
        </p:nvSpPr>
        <p:spPr>
          <a:xfrm>
            <a:off x="7589520" y="2834640"/>
            <a:ext cx="2194560" cy="14630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787878"/>
                </a:solidFill>
              </a:defRPr>
            </a:pPr>
            <a:r>
              <a:t>TIER 3: GENERAL</a:t>
            </a:r>
            <a:br/>
            <a:br/>
            <a:r>
              <a:t>No specific match</a:t>
            </a:r>
            <a:br/>
            <a:br/>
            <a:r>
              <a:t>→ Dashboard only</a:t>
            </a:r>
            <a:br/>
            <a:r>
              <a:t>→ No email</a:t>
            </a:r>
          </a:p>
        </p:txBody>
      </p:sp>
      <p:sp>
        <p:nvSpPr>
          <p:cNvPr id="18" name="Rounded Rectangle 17"/>
          <p:cNvSpPr/>
          <p:nvPr/>
        </p:nvSpPr>
        <p:spPr>
          <a:xfrm>
            <a:off x="8046720" y="4343400"/>
            <a:ext cx="1371600" cy="32004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LOW</a:t>
            </a:r>
          </a:p>
        </p:txBody>
      </p:sp>
      <p:sp>
        <p:nvSpPr>
          <p:cNvPr id="19" name="Rounded Rectangle 18"/>
          <p:cNvSpPr/>
          <p:nvPr/>
        </p:nvSpPr>
        <p:spPr>
          <a:xfrm>
            <a:off x="9966960" y="2834640"/>
            <a:ext cx="2011680" cy="1463040"/>
          </a:xfrm>
          <a:prstGeom prst="roundRect">
            <a:avLst/>
          </a:prstGeom>
          <a:solidFill>
            <a:srgbClr val="F5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787878"/>
                </a:solidFill>
              </a:defRPr>
            </a:pPr>
            <a:r>
              <a:t>ANALYTICS</a:t>
            </a:r>
            <a:br/>
            <a:br/>
            <a:r>
              <a:t>Award results feed</a:t>
            </a:r>
            <a:br/>
            <a:r>
              <a:t>price intelligence &amp;</a:t>
            </a:r>
            <a:br/>
            <a:r>
              <a:t>competitor profiles</a:t>
            </a:r>
          </a:p>
        </p:txBody>
      </p:sp>
      <p:sp>
        <p:nvSpPr>
          <p:cNvPr id="20" name="TextBox 19"/>
          <p:cNvSpPr txBox="1"/>
          <p:nvPr/>
        </p:nvSpPr>
        <p:spPr>
          <a:xfrm>
            <a:off x="274320" y="5120640"/>
            <a:ext cx="11430000" cy="365760"/>
          </a:xfrm>
          <a:prstGeom prst="rect">
            <a:avLst/>
          </a:prstGeom>
          <a:noFill/>
        </p:spPr>
        <p:txBody>
          <a:bodyPr wrap="square">
            <a:spAutoFit/>
          </a:bodyPr>
          <a:lstStyle/>
          <a:p>
            <a:pPr algn="ctr">
              <a:defRPr sz="1300" b="0">
                <a:solidFill>
                  <a:srgbClr val="787878"/>
                </a:solidFill>
              </a:defRPr>
            </a:pPr>
            <a:r>
              <a:t>All tenders stored permanently  |  Deduplication across runs  |  Historical data grows over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Tarjouspalvelu.fi</a:t>
            </a:r>
          </a:p>
        </p:txBody>
      </p:sp>
      <p:sp>
        <p:nvSpPr>
          <p:cNvPr id="3" name="TextBox 2"/>
          <p:cNvSpPr txBox="1"/>
          <p:nvPr/>
        </p:nvSpPr>
        <p:spPr>
          <a:xfrm>
            <a:off x="274320" y="1097280"/>
            <a:ext cx="10972800" cy="274320"/>
          </a:xfrm>
          <a:prstGeom prst="rect">
            <a:avLst/>
          </a:prstGeom>
          <a:noFill/>
        </p:spPr>
        <p:txBody>
          <a:bodyPr wrap="square">
            <a:spAutoFit/>
          </a:bodyPr>
          <a:lstStyle/>
          <a:p>
            <a:pPr algn="l">
              <a:defRPr sz="1600" b="1">
                <a:solidFill>
                  <a:srgbClr val="2EA44F"/>
                </a:solidFill>
              </a:defRPr>
            </a:pPr>
            <a:r>
              <a:t>Working pipeline (fully automated, including login):</a:t>
            </a:r>
          </a:p>
        </p:txBody>
      </p:sp>
      <p:sp>
        <p:nvSpPr>
          <p:cNvPr id="4" name="Rounded Rectangle 3"/>
          <p:cNvSpPr/>
          <p:nvPr/>
        </p:nvSpPr>
        <p:spPr>
          <a:xfrm>
            <a:off x="274320" y="1463040"/>
            <a:ext cx="20116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Open Chrome</a:t>
            </a:r>
            <a:br/>
            <a:r>
              <a:t>(automated)</a:t>
            </a:r>
          </a:p>
        </p:txBody>
      </p:sp>
      <p:sp>
        <p:nvSpPr>
          <p:cNvPr id="5" name="Right Arrow 4"/>
          <p:cNvSpPr/>
          <p:nvPr/>
        </p:nvSpPr>
        <p:spPr>
          <a:xfrm>
            <a:off x="23774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463040"/>
            <a:ext cx="219456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Bypass Cloudflare</a:t>
            </a:r>
            <a:br/>
            <a:r>
              <a:t>(auto-resolves)</a:t>
            </a:r>
          </a:p>
        </p:txBody>
      </p:sp>
      <p:sp>
        <p:nvSpPr>
          <p:cNvPr id="7" name="Right Arrow 6"/>
          <p:cNvSpPr/>
          <p:nvPr/>
        </p:nvSpPr>
        <p:spPr>
          <a:xfrm>
            <a:off x="51206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7840" y="1463040"/>
            <a:ext cx="219456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Login via SSO</a:t>
            </a:r>
            <a:br/>
            <a:r>
              <a:t>(Cloudia Services)</a:t>
            </a:r>
          </a:p>
        </p:txBody>
      </p:sp>
      <p:sp>
        <p:nvSpPr>
          <p:cNvPr id="9" name="Right Arrow 8"/>
          <p:cNvSpPr/>
          <p:nvPr/>
        </p:nvSpPr>
        <p:spPr>
          <a:xfrm>
            <a:off x="78638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21040" y="1463040"/>
            <a:ext cx="20116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Global search</a:t>
            </a:r>
            <a:br/>
            <a:r>
              <a:t>(all of Finland)</a:t>
            </a:r>
          </a:p>
        </p:txBody>
      </p:sp>
      <p:sp>
        <p:nvSpPr>
          <p:cNvPr id="11" name="Right Arrow 10"/>
          <p:cNvSpPr/>
          <p:nvPr/>
        </p:nvSpPr>
        <p:spPr>
          <a:xfrm>
            <a:off x="1042416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881360" y="1463040"/>
            <a:ext cx="10972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Extract</a:t>
            </a:r>
            <a:br/>
            <a:r>
              <a:t>data</a:t>
            </a:r>
          </a:p>
        </p:txBody>
      </p:sp>
      <p:sp>
        <p:nvSpPr>
          <p:cNvPr id="13" name="TextBox 12"/>
          <p:cNvSpPr txBox="1"/>
          <p:nvPr/>
        </p:nvSpPr>
        <p:spPr>
          <a:xfrm>
            <a:off x="274320" y="2377440"/>
            <a:ext cx="10972800" cy="274320"/>
          </a:xfrm>
          <a:prstGeom prst="rect">
            <a:avLst/>
          </a:prstGeom>
          <a:noFill/>
        </p:spPr>
        <p:txBody>
          <a:bodyPr wrap="square">
            <a:spAutoFit/>
          </a:bodyPr>
          <a:lstStyle/>
          <a:p>
            <a:pPr algn="l">
              <a:defRPr sz="1600" b="1">
                <a:solidFill>
                  <a:srgbClr val="0079C1"/>
                </a:solidFill>
              </a:defRPr>
            </a:pPr>
            <a:r>
              <a:t>Data extracted per tender:</a:t>
            </a:r>
          </a:p>
        </p:txBody>
      </p:sp>
      <p:sp>
        <p:nvSpPr>
          <p:cNvPr id="14" name="Rounded Rectangle 13"/>
          <p:cNvSpPr/>
          <p:nvPr/>
        </p:nvSpPr>
        <p:spPr>
          <a:xfrm>
            <a:off x="274320" y="2743200"/>
            <a:ext cx="5669280" cy="146304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From listing page (all tenders at once)</a:t>
            </a:r>
            <a:br/>
            <a:br/>
            <a:r>
              <a:t>• Tender name and ID</a:t>
            </a:r>
            <a:br/>
            <a:r>
              <a:t>• Organisation</a:t>
            </a:r>
            <a:br/>
            <a:r>
              <a:t>• Type (competition, results, DPS, etc.)</a:t>
            </a:r>
            <a:br/>
            <a:r>
              <a:t>• Full description text</a:t>
            </a:r>
            <a:br/>
            <a:r>
              <a:t>• Publication date and deadline</a:t>
            </a:r>
          </a:p>
        </p:txBody>
      </p:sp>
      <p:sp>
        <p:nvSpPr>
          <p:cNvPr id="15" name="Rounded Rectangle 14"/>
          <p:cNvSpPr/>
          <p:nvPr/>
        </p:nvSpPr>
        <p:spPr>
          <a:xfrm>
            <a:off x="6126480" y="2743200"/>
            <a:ext cx="5852160" cy="146304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From detail page (one by one, login required)</a:t>
            </a:r>
            <a:br/>
            <a:br/>
            <a:r>
              <a:t>• Publication documents (specs, pricing sheets)</a:t>
            </a:r>
            <a:br/>
            <a:r>
              <a:t>• Evaluation criteria (price vs quality weighting)</a:t>
            </a:r>
            <a:br/>
            <a:r>
              <a:t>• Qualification requirements</a:t>
            </a:r>
            <a:br/>
            <a:r>
              <a:t>• Questions &amp; Answers thread</a:t>
            </a:r>
            <a:br/>
            <a:r>
              <a:t>• Buyer contact information</a:t>
            </a:r>
          </a:p>
        </p:txBody>
      </p:sp>
      <p:sp>
        <p:nvSpPr>
          <p:cNvPr id="16" name="TextBox 15"/>
          <p:cNvSpPr txBox="1"/>
          <p:nvPr/>
        </p:nvSpPr>
        <p:spPr>
          <a:xfrm>
            <a:off x="274320" y="4480560"/>
            <a:ext cx="10972800" cy="274320"/>
          </a:xfrm>
          <a:prstGeom prst="rect">
            <a:avLst/>
          </a:prstGeom>
          <a:noFill/>
        </p:spPr>
        <p:txBody>
          <a:bodyPr wrap="square">
            <a:spAutoFit/>
          </a:bodyPr>
          <a:lstStyle/>
          <a:p>
            <a:pPr algn="l">
              <a:defRPr sz="1600" b="1">
                <a:solidFill>
                  <a:srgbClr val="E67E22"/>
                </a:solidFill>
              </a:defRPr>
            </a:pPr>
            <a:r>
              <a:t>Solved challenges:</a:t>
            </a:r>
          </a:p>
        </p:txBody>
      </p:sp>
      <p:sp>
        <p:nvSpPr>
          <p:cNvPr id="17" name="Rounded Rectangle 16"/>
          <p:cNvSpPr/>
          <p:nvPr/>
        </p:nvSpPr>
        <p:spPr>
          <a:xfrm>
            <a:off x="274320" y="4846320"/>
            <a:ext cx="365760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Cloudflare Bot Protection</a:t>
            </a:r>
            <a:br/>
            <a:br/>
            <a:r>
              <a:t>Blocks all standard automation.</a:t>
            </a:r>
            <a:br/>
            <a:r>
              <a:t>Our solution auto-resolves it.</a:t>
            </a:r>
            <a:br/>
            <a:r>
              <a:t>Tested 5 approaches — only one works.</a:t>
            </a:r>
          </a:p>
        </p:txBody>
      </p:sp>
      <p:sp>
        <p:nvSpPr>
          <p:cNvPr id="18" name="Rounded Rectangle 17"/>
          <p:cNvSpPr/>
          <p:nvPr/>
        </p:nvSpPr>
        <p:spPr>
          <a:xfrm>
            <a:off x="4114800" y="4846320"/>
            <a:ext cx="365760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Login Automation</a:t>
            </a:r>
            <a:br/>
            <a:br/>
            <a:r>
              <a:t>Two-step SSO redirect to Cloudia.</a:t>
            </a:r>
            <a:br/>
            <a:r>
              <a:t>Vaadin framework (non-standard UI).</a:t>
            </a:r>
            <a:br/>
            <a:r>
              <a:t>Fully automated with credentials.</a:t>
            </a:r>
          </a:p>
        </p:txBody>
      </p:sp>
      <p:sp>
        <p:nvSpPr>
          <p:cNvPr id="19" name="Rounded Rectangle 18"/>
          <p:cNvSpPr/>
          <p:nvPr/>
        </p:nvSpPr>
        <p:spPr>
          <a:xfrm>
            <a:off x="7955279" y="4846320"/>
            <a:ext cx="402336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Production Readiness</a:t>
            </a:r>
            <a:br/>
            <a:br/>
            <a:r>
              <a:t>Needs: service account (not personal),</a:t>
            </a:r>
            <a:br/>
            <a:r>
              <a:t>virtual display for server,</a:t>
            </a:r>
            <a:br/>
            <a:r>
              <a:t>scheduled nightly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Narrowing Down: From 5,000 to Relevant</a:t>
            </a:r>
          </a:p>
        </p:txBody>
      </p:sp>
      <p:sp>
        <p:nvSpPr>
          <p:cNvPr id="3" name="TextBox 2"/>
          <p:cNvSpPr txBox="1"/>
          <p:nvPr/>
        </p:nvSpPr>
        <p:spPr>
          <a:xfrm>
            <a:off x="457200" y="1005840"/>
            <a:ext cx="10972800" cy="457200"/>
          </a:xfrm>
          <a:prstGeom prst="rect">
            <a:avLst/>
          </a:prstGeom>
          <a:noFill/>
        </p:spPr>
        <p:txBody>
          <a:bodyPr wrap="square">
            <a:spAutoFit/>
          </a:bodyPr>
          <a:lstStyle/>
          <a:p>
            <a:pPr algn="l">
              <a:defRPr sz="1600" b="0">
                <a:solidFill>
                  <a:srgbClr val="333333"/>
                </a:solidFill>
              </a:defRPr>
            </a:pPr>
            <a:r>
              <a:t>We filter in layers — cheapest and fastest first, AI only on what survives. Each layer is configurable.</a:t>
            </a:r>
          </a:p>
        </p:txBody>
      </p:sp>
      <p:sp>
        <p:nvSpPr>
          <p:cNvPr id="4" name="Rounded Rectangle 3"/>
          <p:cNvSpPr/>
          <p:nvPr/>
        </p:nvSpPr>
        <p:spPr>
          <a:xfrm>
            <a:off x="457200" y="164592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1: Notice Type (built-in search filter)</a:t>
            </a:r>
            <a:br/>
            <a:r>
              <a:t>Keep only open competitions, planning notices, DPS. Remove awards, cancellations, direct awards.</a:t>
            </a:r>
          </a:p>
        </p:txBody>
      </p:sp>
      <p:sp>
        <p:nvSpPr>
          <p:cNvPr id="5" name="TextBox 4"/>
          <p:cNvSpPr txBox="1"/>
          <p:nvPr/>
        </p:nvSpPr>
        <p:spPr>
          <a:xfrm>
            <a:off x="7040880" y="1737360"/>
            <a:ext cx="2286000" cy="457200"/>
          </a:xfrm>
          <a:prstGeom prst="rect">
            <a:avLst/>
          </a:prstGeom>
          <a:noFill/>
        </p:spPr>
        <p:txBody>
          <a:bodyPr wrap="square">
            <a:spAutoFit/>
          </a:bodyPr>
          <a:lstStyle/>
          <a:p>
            <a:pPr algn="l">
              <a:defRPr sz="1600" b="1">
                <a:solidFill>
                  <a:srgbClr val="2EA44F"/>
                </a:solidFill>
              </a:defRPr>
            </a:pPr>
            <a:r>
              <a:t>5,000 → ~2,000</a:t>
            </a:r>
          </a:p>
        </p:txBody>
      </p:sp>
      <p:sp>
        <p:nvSpPr>
          <p:cNvPr id="6" name="Rounded Rectangle 5"/>
          <p:cNvSpPr/>
          <p:nvPr/>
        </p:nvSpPr>
        <p:spPr>
          <a:xfrm>
            <a:off x="9418320" y="1783080"/>
            <a:ext cx="2560320" cy="4114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Automatic</a:t>
            </a:r>
          </a:p>
        </p:txBody>
      </p:sp>
      <p:sp>
        <p:nvSpPr>
          <p:cNvPr id="7" name="Rounded Rectangle 6"/>
          <p:cNvSpPr/>
          <p:nvPr/>
        </p:nvSpPr>
        <p:spPr>
          <a:xfrm>
            <a:off x="457200" y="251460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2: Procurement Category (built-in search filter)</a:t>
            </a:r>
            <a:br/>
            <a:r>
              <a:t>Keep only categories CGI operates in: Service, Health &amp; Social, IT, etc.</a:t>
            </a:r>
          </a:p>
        </p:txBody>
      </p:sp>
      <p:sp>
        <p:nvSpPr>
          <p:cNvPr id="8" name="TextBox 7"/>
          <p:cNvSpPr txBox="1"/>
          <p:nvPr/>
        </p:nvSpPr>
        <p:spPr>
          <a:xfrm>
            <a:off x="7040880" y="2606040"/>
            <a:ext cx="2286000" cy="457200"/>
          </a:xfrm>
          <a:prstGeom prst="rect">
            <a:avLst/>
          </a:prstGeom>
          <a:noFill/>
        </p:spPr>
        <p:txBody>
          <a:bodyPr wrap="square">
            <a:spAutoFit/>
          </a:bodyPr>
          <a:lstStyle/>
          <a:p>
            <a:pPr algn="l">
              <a:defRPr sz="1600" b="1">
                <a:solidFill>
                  <a:srgbClr val="2EA44F"/>
                </a:solidFill>
              </a:defRPr>
            </a:pPr>
            <a:r>
              <a:t>2,000 → ~800</a:t>
            </a:r>
          </a:p>
        </p:txBody>
      </p:sp>
      <p:sp>
        <p:nvSpPr>
          <p:cNvPr id="9" name="Rounded Rectangle 8"/>
          <p:cNvSpPr/>
          <p:nvPr/>
        </p:nvSpPr>
        <p:spPr>
          <a:xfrm>
            <a:off x="9418320" y="265176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0" name="Rounded Rectangle 9"/>
          <p:cNvSpPr/>
          <p:nvPr/>
        </p:nvSpPr>
        <p:spPr>
          <a:xfrm>
            <a:off x="457200" y="338328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3: CPV Codes — standardized EU procurement categories</a:t>
            </a:r>
            <a:br/>
            <a:r>
              <a:t>Filter to IT (72xxx), consulting (79xxx), and other relevant codes.</a:t>
            </a:r>
          </a:p>
        </p:txBody>
      </p:sp>
      <p:sp>
        <p:nvSpPr>
          <p:cNvPr id="11" name="TextBox 10"/>
          <p:cNvSpPr txBox="1"/>
          <p:nvPr/>
        </p:nvSpPr>
        <p:spPr>
          <a:xfrm>
            <a:off x="7040880" y="3474720"/>
            <a:ext cx="2286000" cy="457200"/>
          </a:xfrm>
          <a:prstGeom prst="rect">
            <a:avLst/>
          </a:prstGeom>
          <a:noFill/>
        </p:spPr>
        <p:txBody>
          <a:bodyPr wrap="square">
            <a:spAutoFit/>
          </a:bodyPr>
          <a:lstStyle/>
          <a:p>
            <a:pPr algn="l">
              <a:defRPr sz="1600" b="1">
                <a:solidFill>
                  <a:srgbClr val="2EA44F"/>
                </a:solidFill>
              </a:defRPr>
            </a:pPr>
            <a:r>
              <a:t>800 → ~300</a:t>
            </a:r>
          </a:p>
        </p:txBody>
      </p:sp>
      <p:sp>
        <p:nvSpPr>
          <p:cNvPr id="12" name="Rounded Rectangle 11"/>
          <p:cNvSpPr/>
          <p:nvPr/>
        </p:nvSpPr>
        <p:spPr>
          <a:xfrm>
            <a:off x="9418320" y="352044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3" name="Rounded Rectangle 12"/>
          <p:cNvSpPr/>
          <p:nvPr/>
        </p:nvSpPr>
        <p:spPr>
          <a:xfrm>
            <a:off x="457200" y="4251960"/>
            <a:ext cx="6400800" cy="6858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4: Keyword + Product Name Matching</a:t>
            </a:r>
            <a:br/>
            <a:r>
              <a:t>Tier 1: CGI product names (Aromi, etc.)  |  Tier 2: department keywords  |  Tier 3: everything else</a:t>
            </a:r>
          </a:p>
        </p:txBody>
      </p:sp>
      <p:sp>
        <p:nvSpPr>
          <p:cNvPr id="14" name="TextBox 13"/>
          <p:cNvSpPr txBox="1"/>
          <p:nvPr/>
        </p:nvSpPr>
        <p:spPr>
          <a:xfrm>
            <a:off x="7040880" y="4343400"/>
            <a:ext cx="2286000" cy="457200"/>
          </a:xfrm>
          <a:prstGeom prst="rect">
            <a:avLst/>
          </a:prstGeom>
          <a:noFill/>
        </p:spPr>
        <p:txBody>
          <a:bodyPr wrap="square">
            <a:spAutoFit/>
          </a:bodyPr>
          <a:lstStyle/>
          <a:p>
            <a:pPr algn="l">
              <a:defRPr sz="1600" b="1">
                <a:solidFill>
                  <a:srgbClr val="2EA44F"/>
                </a:solidFill>
              </a:defRPr>
            </a:pPr>
            <a:r>
              <a:t>300 → routed</a:t>
            </a:r>
          </a:p>
        </p:txBody>
      </p:sp>
      <p:sp>
        <p:nvSpPr>
          <p:cNvPr id="15" name="Rounded Rectangle 14"/>
          <p:cNvSpPr/>
          <p:nvPr/>
        </p:nvSpPr>
        <p:spPr>
          <a:xfrm>
            <a:off x="9418320" y="438912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6" name="Rounded Rectangle 15"/>
          <p:cNvSpPr/>
          <p:nvPr/>
        </p:nvSpPr>
        <p:spPr>
          <a:xfrm>
            <a:off x="457200" y="5120640"/>
            <a:ext cx="6400800" cy="59436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5: AI Summary + Relevance Scoring</a:t>
            </a:r>
            <a:br/>
            <a:r>
              <a:t>Only for tenders that passed all filters. Costs ~$0.002 per tender.</a:t>
            </a:r>
          </a:p>
        </p:txBody>
      </p:sp>
      <p:sp>
        <p:nvSpPr>
          <p:cNvPr id="17" name="TextBox 16"/>
          <p:cNvSpPr txBox="1"/>
          <p:nvPr/>
        </p:nvSpPr>
        <p:spPr>
          <a:xfrm>
            <a:off x="7040880" y="5166360"/>
            <a:ext cx="4572000" cy="365760"/>
          </a:xfrm>
          <a:prstGeom prst="rect">
            <a:avLst/>
          </a:prstGeom>
          <a:noFill/>
        </p:spPr>
        <p:txBody>
          <a:bodyPr wrap="square">
            <a:spAutoFit/>
          </a:bodyPr>
          <a:lstStyle/>
          <a:p>
            <a:pPr algn="l">
              <a:defRPr sz="1400" b="0">
                <a:solidFill>
                  <a:srgbClr val="787878"/>
                </a:solidFill>
              </a:defRPr>
            </a:pPr>
            <a:r>
              <a:t>~$40-70/month total AI cost</a:t>
            </a:r>
          </a:p>
        </p:txBody>
      </p:sp>
      <p:sp>
        <p:nvSpPr>
          <p:cNvPr id="18" name="TextBox 17"/>
          <p:cNvSpPr txBox="1"/>
          <p:nvPr/>
        </p:nvSpPr>
        <p:spPr>
          <a:xfrm>
            <a:off x="457200" y="5943600"/>
            <a:ext cx="11430000" cy="365760"/>
          </a:xfrm>
          <a:prstGeom prst="rect">
            <a:avLst/>
          </a:prstGeom>
          <a:noFill/>
        </p:spPr>
        <p:txBody>
          <a:bodyPr wrap="square">
            <a:spAutoFit/>
          </a:bodyPr>
          <a:lstStyle/>
          <a:p>
            <a:pPr algn="l">
              <a:defRPr sz="1200" b="0">
                <a:solidFill>
                  <a:srgbClr val="787878"/>
                </a:solidFill>
              </a:defRPr>
            </a:pPr>
            <a:r>
              <a:t>Numbers are estimates — actual reduction depends on which categories and codes CGI selects.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Costs: Right Model for Each Task</a:t>
            </a:r>
          </a:p>
        </p:txBody>
      </p:sp>
      <p:sp>
        <p:nvSpPr>
          <p:cNvPr id="3" name="TextBox 2"/>
          <p:cNvSpPr txBox="1"/>
          <p:nvPr/>
        </p:nvSpPr>
        <p:spPr>
          <a:xfrm>
            <a:off x="274320" y="1005840"/>
            <a:ext cx="10972800" cy="365760"/>
          </a:xfrm>
          <a:prstGeom prst="rect">
            <a:avLst/>
          </a:prstGeom>
          <a:noFill/>
        </p:spPr>
        <p:txBody>
          <a:bodyPr wrap="square">
            <a:spAutoFit/>
          </a:bodyPr>
          <a:lstStyle/>
          <a:p>
            <a:pPr algn="l">
              <a:defRPr sz="1600" b="0">
                <a:solidFill>
                  <a:srgbClr val="333333"/>
                </a:solidFill>
              </a:defRPr>
            </a:pPr>
            <a:r>
              <a:t>Different tasks need different models. Cheap models handle most work. Total monthly cost is negligible.</a:t>
            </a:r>
          </a:p>
        </p:txBody>
      </p:sp>
      <p:sp>
        <p:nvSpPr>
          <p:cNvPr id="4" name="TextBox 3"/>
          <p:cNvSpPr txBox="1"/>
          <p:nvPr/>
        </p:nvSpPr>
        <p:spPr>
          <a:xfrm>
            <a:off x="274320" y="1463040"/>
            <a:ext cx="3200400" cy="274320"/>
          </a:xfrm>
          <a:prstGeom prst="rect">
            <a:avLst/>
          </a:prstGeom>
          <a:noFill/>
        </p:spPr>
        <p:txBody>
          <a:bodyPr wrap="square">
            <a:spAutoFit/>
          </a:bodyPr>
          <a:lstStyle/>
          <a:p>
            <a:pPr algn="l">
              <a:defRPr sz="1400" b="1">
                <a:solidFill>
                  <a:srgbClr val="0079C1"/>
                </a:solidFill>
              </a:defRPr>
            </a:pPr>
            <a:r>
              <a:t>Task</a:t>
            </a:r>
          </a:p>
        </p:txBody>
      </p:sp>
      <p:sp>
        <p:nvSpPr>
          <p:cNvPr id="5" name="TextBox 4"/>
          <p:cNvSpPr txBox="1"/>
          <p:nvPr/>
        </p:nvSpPr>
        <p:spPr>
          <a:xfrm>
            <a:off x="3474720" y="1463040"/>
            <a:ext cx="2286000" cy="274320"/>
          </a:xfrm>
          <a:prstGeom prst="rect">
            <a:avLst/>
          </a:prstGeom>
          <a:noFill/>
        </p:spPr>
        <p:txBody>
          <a:bodyPr wrap="square">
            <a:spAutoFit/>
          </a:bodyPr>
          <a:lstStyle/>
          <a:p>
            <a:pPr algn="l">
              <a:defRPr sz="1400" b="1">
                <a:solidFill>
                  <a:srgbClr val="0079C1"/>
                </a:solidFill>
              </a:defRPr>
            </a:pPr>
            <a:r>
              <a:t>Model</a:t>
            </a:r>
          </a:p>
        </p:txBody>
      </p:sp>
      <p:sp>
        <p:nvSpPr>
          <p:cNvPr id="6" name="TextBox 5"/>
          <p:cNvSpPr txBox="1"/>
          <p:nvPr/>
        </p:nvSpPr>
        <p:spPr>
          <a:xfrm>
            <a:off x="5760720" y="1463040"/>
            <a:ext cx="2286000" cy="274320"/>
          </a:xfrm>
          <a:prstGeom prst="rect">
            <a:avLst/>
          </a:prstGeom>
          <a:noFill/>
        </p:spPr>
        <p:txBody>
          <a:bodyPr wrap="square">
            <a:spAutoFit/>
          </a:bodyPr>
          <a:lstStyle/>
          <a:p>
            <a:pPr algn="l">
              <a:defRPr sz="1400" b="1">
                <a:solidFill>
                  <a:srgbClr val="0079C1"/>
                </a:solidFill>
              </a:defRPr>
            </a:pPr>
            <a:r>
              <a:t>Data used</a:t>
            </a:r>
          </a:p>
        </p:txBody>
      </p:sp>
      <p:sp>
        <p:nvSpPr>
          <p:cNvPr id="7" name="TextBox 6"/>
          <p:cNvSpPr txBox="1"/>
          <p:nvPr/>
        </p:nvSpPr>
        <p:spPr>
          <a:xfrm>
            <a:off x="8046720" y="1463040"/>
            <a:ext cx="1645920" cy="274320"/>
          </a:xfrm>
          <a:prstGeom prst="rect">
            <a:avLst/>
          </a:prstGeom>
          <a:noFill/>
        </p:spPr>
        <p:txBody>
          <a:bodyPr wrap="square">
            <a:spAutoFit/>
          </a:bodyPr>
          <a:lstStyle/>
          <a:p>
            <a:pPr algn="l">
              <a:defRPr sz="1400" b="1">
                <a:solidFill>
                  <a:srgbClr val="0079C1"/>
                </a:solidFill>
              </a:defRPr>
            </a:pPr>
            <a:r>
              <a:t>Per tender</a:t>
            </a:r>
          </a:p>
        </p:txBody>
      </p:sp>
      <p:sp>
        <p:nvSpPr>
          <p:cNvPr id="8" name="TextBox 7"/>
          <p:cNvSpPr txBox="1"/>
          <p:nvPr/>
        </p:nvSpPr>
        <p:spPr>
          <a:xfrm>
            <a:off x="9692640" y="1463040"/>
            <a:ext cx="2286000" cy="274320"/>
          </a:xfrm>
          <a:prstGeom prst="rect">
            <a:avLst/>
          </a:prstGeom>
          <a:noFill/>
        </p:spPr>
        <p:txBody>
          <a:bodyPr wrap="square">
            <a:spAutoFit/>
          </a:bodyPr>
          <a:lstStyle/>
          <a:p>
            <a:pPr algn="l">
              <a:defRPr sz="1400" b="1">
                <a:solidFill>
                  <a:srgbClr val="0079C1"/>
                </a:solidFill>
              </a:defRPr>
            </a:pPr>
            <a:r>
              <a:t>300/month</a:t>
            </a:r>
          </a:p>
        </p:txBody>
      </p:sp>
      <p:sp>
        <p:nvSpPr>
          <p:cNvPr id="9" name="Rounded Rectangle 8"/>
          <p:cNvSpPr/>
          <p:nvPr/>
        </p:nvSpPr>
        <p:spPr>
          <a:xfrm>
            <a:off x="274320" y="1828800"/>
            <a:ext cx="3108960" cy="68580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Summarization</a:t>
            </a:r>
            <a:br/>
            <a:r>
              <a:t>(Finnish → English)</a:t>
            </a:r>
          </a:p>
        </p:txBody>
      </p:sp>
      <p:sp>
        <p:nvSpPr>
          <p:cNvPr id="10" name="TextBox 9"/>
          <p:cNvSpPr txBox="1"/>
          <p:nvPr/>
        </p:nvSpPr>
        <p:spPr>
          <a:xfrm>
            <a:off x="3474720" y="1965960"/>
            <a:ext cx="2286000" cy="457200"/>
          </a:xfrm>
          <a:prstGeom prst="rect">
            <a:avLst/>
          </a:prstGeom>
          <a:noFill/>
        </p:spPr>
        <p:txBody>
          <a:bodyPr wrap="square">
            <a:spAutoFit/>
          </a:bodyPr>
          <a:lstStyle/>
          <a:p>
            <a:pPr algn="l">
              <a:defRPr sz="1300" b="1">
                <a:solidFill>
                  <a:srgbClr val="333333"/>
                </a:solidFill>
              </a:defRPr>
            </a:pPr>
            <a:r>
              <a:t>Basic AI</a:t>
            </a:r>
            <a:br/>
            <a:r>
              <a:t>(GPT-4.1-nano)</a:t>
            </a:r>
          </a:p>
        </p:txBody>
      </p:sp>
      <p:sp>
        <p:nvSpPr>
          <p:cNvPr id="11" name="TextBox 10"/>
          <p:cNvSpPr txBox="1"/>
          <p:nvPr/>
        </p:nvSpPr>
        <p:spPr>
          <a:xfrm>
            <a:off x="5760720" y="1920240"/>
            <a:ext cx="2286000" cy="457200"/>
          </a:xfrm>
          <a:prstGeom prst="rect">
            <a:avLst/>
          </a:prstGeom>
          <a:noFill/>
        </p:spPr>
        <p:txBody>
          <a:bodyPr wrap="square">
            <a:spAutoFit/>
          </a:bodyPr>
          <a:lstStyle/>
          <a:p>
            <a:pPr algn="l">
              <a:defRPr sz="1100" b="0">
                <a:solidFill>
                  <a:srgbClr val="787878"/>
                </a:solidFill>
              </a:defRPr>
            </a:pPr>
            <a:r>
              <a:t>Detail page</a:t>
            </a:r>
            <a:br/>
            <a:r>
              <a:t>(full docs)</a:t>
            </a:r>
          </a:p>
        </p:txBody>
      </p:sp>
      <p:sp>
        <p:nvSpPr>
          <p:cNvPr id="12" name="TextBox 11"/>
          <p:cNvSpPr txBox="1"/>
          <p:nvPr/>
        </p:nvSpPr>
        <p:spPr>
          <a:xfrm>
            <a:off x="8046720" y="1965960"/>
            <a:ext cx="1645920" cy="457200"/>
          </a:xfrm>
          <a:prstGeom prst="rect">
            <a:avLst/>
          </a:prstGeom>
          <a:noFill/>
        </p:spPr>
        <p:txBody>
          <a:bodyPr wrap="square">
            <a:spAutoFit/>
          </a:bodyPr>
          <a:lstStyle/>
          <a:p>
            <a:pPr algn="l">
              <a:defRPr sz="1400" b="0">
                <a:solidFill>
                  <a:srgbClr val="333333"/>
                </a:solidFill>
              </a:defRPr>
            </a:pPr>
            <a:r>
              <a:t>$0.002</a:t>
            </a:r>
          </a:p>
        </p:txBody>
      </p:sp>
      <p:sp>
        <p:nvSpPr>
          <p:cNvPr id="13" name="TextBox 12"/>
          <p:cNvSpPr txBox="1"/>
          <p:nvPr/>
        </p:nvSpPr>
        <p:spPr>
          <a:xfrm>
            <a:off x="9692640" y="1965960"/>
            <a:ext cx="2286000" cy="457200"/>
          </a:xfrm>
          <a:prstGeom prst="rect">
            <a:avLst/>
          </a:prstGeom>
          <a:noFill/>
        </p:spPr>
        <p:txBody>
          <a:bodyPr wrap="square">
            <a:spAutoFit/>
          </a:bodyPr>
          <a:lstStyle/>
          <a:p>
            <a:pPr algn="l">
              <a:defRPr sz="1400" b="0">
                <a:solidFill>
                  <a:srgbClr val="333333"/>
                </a:solidFill>
              </a:defRPr>
            </a:pPr>
            <a:r>
              <a:t>$18</a:t>
            </a:r>
          </a:p>
        </p:txBody>
      </p:sp>
      <p:sp>
        <p:nvSpPr>
          <p:cNvPr id="14" name="Rounded Rectangle 13"/>
          <p:cNvSpPr/>
          <p:nvPr/>
        </p:nvSpPr>
        <p:spPr>
          <a:xfrm>
            <a:off x="274320" y="2606040"/>
            <a:ext cx="3108960" cy="68580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Classification</a:t>
            </a:r>
            <a:br/>
            <a:r>
              <a:t>(categorize tender)</a:t>
            </a:r>
          </a:p>
        </p:txBody>
      </p:sp>
      <p:sp>
        <p:nvSpPr>
          <p:cNvPr id="15" name="TextBox 14"/>
          <p:cNvSpPr txBox="1"/>
          <p:nvPr/>
        </p:nvSpPr>
        <p:spPr>
          <a:xfrm>
            <a:off x="3474720" y="2743200"/>
            <a:ext cx="2286000" cy="457200"/>
          </a:xfrm>
          <a:prstGeom prst="rect">
            <a:avLst/>
          </a:prstGeom>
          <a:noFill/>
        </p:spPr>
        <p:txBody>
          <a:bodyPr wrap="square">
            <a:spAutoFit/>
          </a:bodyPr>
          <a:lstStyle/>
          <a:p>
            <a:pPr algn="l">
              <a:defRPr sz="1300" b="1">
                <a:solidFill>
                  <a:srgbClr val="333333"/>
                </a:solidFill>
              </a:defRPr>
            </a:pPr>
            <a:r>
              <a:t>Basic AI</a:t>
            </a:r>
            <a:br/>
            <a:r>
              <a:t>(GPT-4.1-nano)</a:t>
            </a:r>
          </a:p>
        </p:txBody>
      </p:sp>
      <p:sp>
        <p:nvSpPr>
          <p:cNvPr id="16" name="TextBox 15"/>
          <p:cNvSpPr txBox="1"/>
          <p:nvPr/>
        </p:nvSpPr>
        <p:spPr>
          <a:xfrm>
            <a:off x="5760720" y="2697480"/>
            <a:ext cx="2286000" cy="457200"/>
          </a:xfrm>
          <a:prstGeom prst="rect">
            <a:avLst/>
          </a:prstGeom>
          <a:noFill/>
        </p:spPr>
        <p:txBody>
          <a:bodyPr wrap="square">
            <a:spAutoFit/>
          </a:bodyPr>
          <a:lstStyle/>
          <a:p>
            <a:pPr algn="l">
              <a:defRPr sz="1100" b="0">
                <a:solidFill>
                  <a:srgbClr val="787878"/>
                </a:solidFill>
              </a:defRPr>
            </a:pPr>
            <a:r>
              <a:t>Listing</a:t>
            </a:r>
            <a:br/>
            <a:r>
              <a:t>(description)</a:t>
            </a:r>
          </a:p>
        </p:txBody>
      </p:sp>
      <p:sp>
        <p:nvSpPr>
          <p:cNvPr id="17" name="TextBox 16"/>
          <p:cNvSpPr txBox="1"/>
          <p:nvPr/>
        </p:nvSpPr>
        <p:spPr>
          <a:xfrm>
            <a:off x="8046720" y="2743200"/>
            <a:ext cx="1645920" cy="457200"/>
          </a:xfrm>
          <a:prstGeom prst="rect">
            <a:avLst/>
          </a:prstGeom>
          <a:noFill/>
        </p:spPr>
        <p:txBody>
          <a:bodyPr wrap="square">
            <a:spAutoFit/>
          </a:bodyPr>
          <a:lstStyle/>
          <a:p>
            <a:pPr algn="l">
              <a:defRPr sz="1400" b="0">
                <a:solidFill>
                  <a:srgbClr val="333333"/>
                </a:solidFill>
              </a:defRPr>
            </a:pPr>
            <a:r>
              <a:t>$0.0002</a:t>
            </a:r>
          </a:p>
        </p:txBody>
      </p:sp>
      <p:sp>
        <p:nvSpPr>
          <p:cNvPr id="18" name="TextBox 17"/>
          <p:cNvSpPr txBox="1"/>
          <p:nvPr/>
        </p:nvSpPr>
        <p:spPr>
          <a:xfrm>
            <a:off x="9692640" y="2743200"/>
            <a:ext cx="2286000" cy="457200"/>
          </a:xfrm>
          <a:prstGeom prst="rect">
            <a:avLst/>
          </a:prstGeom>
          <a:noFill/>
        </p:spPr>
        <p:txBody>
          <a:bodyPr wrap="square">
            <a:spAutoFit/>
          </a:bodyPr>
          <a:lstStyle/>
          <a:p>
            <a:pPr algn="l">
              <a:defRPr sz="1400" b="0">
                <a:solidFill>
                  <a:srgbClr val="333333"/>
                </a:solidFill>
              </a:defRPr>
            </a:pPr>
            <a:r>
              <a:t>$1.60</a:t>
            </a:r>
          </a:p>
        </p:txBody>
      </p:sp>
      <p:sp>
        <p:nvSpPr>
          <p:cNvPr id="19" name="Rounded Rectangle 18"/>
          <p:cNvSpPr/>
          <p:nvPr/>
        </p:nvSpPr>
        <p:spPr>
          <a:xfrm>
            <a:off x="274320" y="3383280"/>
            <a:ext cx="310896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Award Analysis</a:t>
            </a:r>
            <a:br/>
            <a:r>
              <a:t>(extract winner + price)</a:t>
            </a:r>
          </a:p>
        </p:txBody>
      </p:sp>
      <p:sp>
        <p:nvSpPr>
          <p:cNvPr id="20" name="TextBox 19"/>
          <p:cNvSpPr txBox="1"/>
          <p:nvPr/>
        </p:nvSpPr>
        <p:spPr>
          <a:xfrm>
            <a:off x="3474720" y="3520440"/>
            <a:ext cx="2286000" cy="457200"/>
          </a:xfrm>
          <a:prstGeom prst="rect">
            <a:avLst/>
          </a:prstGeom>
          <a:noFill/>
        </p:spPr>
        <p:txBody>
          <a:bodyPr wrap="square">
            <a:spAutoFit/>
          </a:bodyPr>
          <a:lstStyle/>
          <a:p>
            <a:pPr algn="l">
              <a:defRPr sz="1300" b="1">
                <a:solidFill>
                  <a:srgbClr val="333333"/>
                </a:solidFill>
              </a:defRPr>
            </a:pPr>
            <a:r>
              <a:t>Standard AI</a:t>
            </a:r>
            <a:br/>
            <a:r>
              <a:t>(GPT-4.1-mini)</a:t>
            </a:r>
          </a:p>
        </p:txBody>
      </p:sp>
      <p:sp>
        <p:nvSpPr>
          <p:cNvPr id="21" name="TextBox 20"/>
          <p:cNvSpPr txBox="1"/>
          <p:nvPr/>
        </p:nvSpPr>
        <p:spPr>
          <a:xfrm>
            <a:off x="5760720" y="3474720"/>
            <a:ext cx="2286000" cy="457200"/>
          </a:xfrm>
          <a:prstGeom prst="rect">
            <a:avLst/>
          </a:prstGeom>
          <a:noFill/>
        </p:spPr>
        <p:txBody>
          <a:bodyPr wrap="square">
            <a:spAutoFit/>
          </a:bodyPr>
          <a:lstStyle/>
          <a:p>
            <a:pPr algn="l">
              <a:defRPr sz="1100" b="0">
                <a:solidFill>
                  <a:srgbClr val="787878"/>
                </a:solidFill>
              </a:defRPr>
            </a:pPr>
            <a:r>
              <a:t>Detail page</a:t>
            </a:r>
            <a:br/>
            <a:r>
              <a:t>(award text)</a:t>
            </a:r>
          </a:p>
        </p:txBody>
      </p:sp>
      <p:sp>
        <p:nvSpPr>
          <p:cNvPr id="22" name="TextBox 21"/>
          <p:cNvSpPr txBox="1"/>
          <p:nvPr/>
        </p:nvSpPr>
        <p:spPr>
          <a:xfrm>
            <a:off x="8046720" y="3520440"/>
            <a:ext cx="1645920" cy="457200"/>
          </a:xfrm>
          <a:prstGeom prst="rect">
            <a:avLst/>
          </a:prstGeom>
          <a:noFill/>
        </p:spPr>
        <p:txBody>
          <a:bodyPr wrap="square">
            <a:spAutoFit/>
          </a:bodyPr>
          <a:lstStyle/>
          <a:p>
            <a:pPr algn="l">
              <a:defRPr sz="1400" b="0">
                <a:solidFill>
                  <a:srgbClr val="333333"/>
                </a:solidFill>
              </a:defRPr>
            </a:pPr>
            <a:r>
              <a:t>$0.003</a:t>
            </a:r>
          </a:p>
        </p:txBody>
      </p:sp>
      <p:sp>
        <p:nvSpPr>
          <p:cNvPr id="23" name="TextBox 22"/>
          <p:cNvSpPr txBox="1"/>
          <p:nvPr/>
        </p:nvSpPr>
        <p:spPr>
          <a:xfrm>
            <a:off x="9692640" y="3520440"/>
            <a:ext cx="2286000" cy="457200"/>
          </a:xfrm>
          <a:prstGeom prst="rect">
            <a:avLst/>
          </a:prstGeom>
          <a:noFill/>
        </p:spPr>
        <p:txBody>
          <a:bodyPr wrap="square">
            <a:spAutoFit/>
          </a:bodyPr>
          <a:lstStyle/>
          <a:p>
            <a:pPr algn="l">
              <a:defRPr sz="1400" b="0">
                <a:solidFill>
                  <a:srgbClr val="333333"/>
                </a:solidFill>
              </a:defRPr>
            </a:pPr>
            <a:r>
              <a:t>$9</a:t>
            </a:r>
          </a:p>
        </p:txBody>
      </p:sp>
      <p:sp>
        <p:nvSpPr>
          <p:cNvPr id="24" name="Rounded Rectangle 23"/>
          <p:cNvSpPr/>
          <p:nvPr/>
        </p:nvSpPr>
        <p:spPr>
          <a:xfrm>
            <a:off x="274320" y="4160520"/>
            <a:ext cx="310896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Relevance Scoring</a:t>
            </a:r>
            <a:br/>
            <a:r>
              <a:t>(relevant to CGI?)</a:t>
            </a:r>
          </a:p>
        </p:txBody>
      </p:sp>
      <p:sp>
        <p:nvSpPr>
          <p:cNvPr id="25" name="TextBox 24"/>
          <p:cNvSpPr txBox="1"/>
          <p:nvPr/>
        </p:nvSpPr>
        <p:spPr>
          <a:xfrm>
            <a:off x="3474720" y="4297680"/>
            <a:ext cx="2286000" cy="457200"/>
          </a:xfrm>
          <a:prstGeom prst="rect">
            <a:avLst/>
          </a:prstGeom>
          <a:noFill/>
        </p:spPr>
        <p:txBody>
          <a:bodyPr wrap="square">
            <a:spAutoFit/>
          </a:bodyPr>
          <a:lstStyle/>
          <a:p>
            <a:pPr algn="l">
              <a:defRPr sz="1300" b="1">
                <a:solidFill>
                  <a:srgbClr val="333333"/>
                </a:solidFill>
              </a:defRPr>
            </a:pPr>
            <a:r>
              <a:t>Standard AI</a:t>
            </a:r>
            <a:br/>
            <a:r>
              <a:t>(GPT-4.1-mini)</a:t>
            </a:r>
          </a:p>
        </p:txBody>
      </p:sp>
      <p:sp>
        <p:nvSpPr>
          <p:cNvPr id="26" name="TextBox 25"/>
          <p:cNvSpPr txBox="1"/>
          <p:nvPr/>
        </p:nvSpPr>
        <p:spPr>
          <a:xfrm>
            <a:off x="5760720" y="4251959"/>
            <a:ext cx="2286000" cy="457200"/>
          </a:xfrm>
          <a:prstGeom prst="rect">
            <a:avLst/>
          </a:prstGeom>
          <a:noFill/>
        </p:spPr>
        <p:txBody>
          <a:bodyPr wrap="square">
            <a:spAutoFit/>
          </a:bodyPr>
          <a:lstStyle/>
          <a:p>
            <a:pPr algn="l">
              <a:defRPr sz="1100" b="0">
                <a:solidFill>
                  <a:srgbClr val="787878"/>
                </a:solidFill>
              </a:defRPr>
            </a:pPr>
            <a:r>
              <a:t>Detail page</a:t>
            </a:r>
            <a:br/>
            <a:r>
              <a:t>(full docs)</a:t>
            </a:r>
          </a:p>
        </p:txBody>
      </p:sp>
      <p:sp>
        <p:nvSpPr>
          <p:cNvPr id="27" name="TextBox 26"/>
          <p:cNvSpPr txBox="1"/>
          <p:nvPr/>
        </p:nvSpPr>
        <p:spPr>
          <a:xfrm>
            <a:off x="8046720" y="4297680"/>
            <a:ext cx="1645920" cy="457200"/>
          </a:xfrm>
          <a:prstGeom prst="rect">
            <a:avLst/>
          </a:prstGeom>
          <a:noFill/>
        </p:spPr>
        <p:txBody>
          <a:bodyPr wrap="square">
            <a:spAutoFit/>
          </a:bodyPr>
          <a:lstStyle/>
          <a:p>
            <a:pPr algn="l">
              <a:defRPr sz="1400" b="0">
                <a:solidFill>
                  <a:srgbClr val="333333"/>
                </a:solidFill>
              </a:defRPr>
            </a:pPr>
            <a:r>
              <a:t>$0.003</a:t>
            </a:r>
          </a:p>
        </p:txBody>
      </p:sp>
      <p:sp>
        <p:nvSpPr>
          <p:cNvPr id="28" name="TextBox 27"/>
          <p:cNvSpPr txBox="1"/>
          <p:nvPr/>
        </p:nvSpPr>
        <p:spPr>
          <a:xfrm>
            <a:off x="9692640" y="4297680"/>
            <a:ext cx="2286000" cy="457200"/>
          </a:xfrm>
          <a:prstGeom prst="rect">
            <a:avLst/>
          </a:prstGeom>
          <a:noFill/>
        </p:spPr>
        <p:txBody>
          <a:bodyPr wrap="square">
            <a:spAutoFit/>
          </a:bodyPr>
          <a:lstStyle/>
          <a:p>
            <a:pPr algn="l">
              <a:defRPr sz="1400" b="0">
                <a:solidFill>
                  <a:srgbClr val="333333"/>
                </a:solidFill>
              </a:defRPr>
            </a:pPr>
            <a:r>
              <a:t>$9</a:t>
            </a:r>
          </a:p>
        </p:txBody>
      </p:sp>
      <p:sp>
        <p:nvSpPr>
          <p:cNvPr id="29" name="Rounded Rectangle 28"/>
          <p:cNvSpPr/>
          <p:nvPr/>
        </p:nvSpPr>
        <p:spPr>
          <a:xfrm>
            <a:off x="274320" y="4937760"/>
            <a:ext cx="3108960" cy="6858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Bid Recommendation</a:t>
            </a:r>
            <a:br/>
            <a:r>
              <a:t>(should CGI bid?)</a:t>
            </a:r>
          </a:p>
        </p:txBody>
      </p:sp>
      <p:sp>
        <p:nvSpPr>
          <p:cNvPr id="30" name="TextBox 29"/>
          <p:cNvSpPr txBox="1"/>
          <p:nvPr/>
        </p:nvSpPr>
        <p:spPr>
          <a:xfrm>
            <a:off x="3474720" y="5074920"/>
            <a:ext cx="2286000" cy="457200"/>
          </a:xfrm>
          <a:prstGeom prst="rect">
            <a:avLst/>
          </a:prstGeom>
          <a:noFill/>
        </p:spPr>
        <p:txBody>
          <a:bodyPr wrap="square">
            <a:spAutoFit/>
          </a:bodyPr>
          <a:lstStyle/>
          <a:p>
            <a:pPr algn="l">
              <a:defRPr sz="1300" b="1">
                <a:solidFill>
                  <a:srgbClr val="333333"/>
                </a:solidFill>
              </a:defRPr>
            </a:pPr>
            <a:r>
              <a:t>Advanced AI</a:t>
            </a:r>
            <a:br/>
            <a:r>
              <a:t>(GPT-4.1 / 4o)</a:t>
            </a:r>
          </a:p>
        </p:txBody>
      </p:sp>
      <p:sp>
        <p:nvSpPr>
          <p:cNvPr id="31" name="TextBox 30"/>
          <p:cNvSpPr txBox="1"/>
          <p:nvPr/>
        </p:nvSpPr>
        <p:spPr>
          <a:xfrm>
            <a:off x="5760720" y="5029200"/>
            <a:ext cx="2286000" cy="457200"/>
          </a:xfrm>
          <a:prstGeom prst="rect">
            <a:avLst/>
          </a:prstGeom>
          <a:noFill/>
        </p:spPr>
        <p:txBody>
          <a:bodyPr wrap="square">
            <a:spAutoFit/>
          </a:bodyPr>
          <a:lstStyle/>
          <a:p>
            <a:pPr algn="l">
              <a:defRPr sz="1100" b="0">
                <a:solidFill>
                  <a:srgbClr val="787878"/>
                </a:solidFill>
              </a:defRPr>
            </a:pPr>
            <a:r>
              <a:t>All docs +</a:t>
            </a:r>
            <a:br/>
            <a:r>
              <a:t>history</a:t>
            </a:r>
          </a:p>
        </p:txBody>
      </p:sp>
      <p:sp>
        <p:nvSpPr>
          <p:cNvPr id="32" name="TextBox 31"/>
          <p:cNvSpPr txBox="1"/>
          <p:nvPr/>
        </p:nvSpPr>
        <p:spPr>
          <a:xfrm>
            <a:off x="8046720" y="5074920"/>
            <a:ext cx="1645920" cy="457200"/>
          </a:xfrm>
          <a:prstGeom prst="rect">
            <a:avLst/>
          </a:prstGeom>
          <a:noFill/>
        </p:spPr>
        <p:txBody>
          <a:bodyPr wrap="square">
            <a:spAutoFit/>
          </a:bodyPr>
          <a:lstStyle/>
          <a:p>
            <a:pPr algn="l">
              <a:defRPr sz="1400" b="0">
                <a:solidFill>
                  <a:srgbClr val="333333"/>
                </a:solidFill>
              </a:defRPr>
            </a:pPr>
            <a:r>
              <a:t>$0.01</a:t>
            </a:r>
          </a:p>
        </p:txBody>
      </p:sp>
      <p:sp>
        <p:nvSpPr>
          <p:cNvPr id="33" name="TextBox 32"/>
          <p:cNvSpPr txBox="1"/>
          <p:nvPr/>
        </p:nvSpPr>
        <p:spPr>
          <a:xfrm>
            <a:off x="9692640" y="5074920"/>
            <a:ext cx="2286000" cy="457200"/>
          </a:xfrm>
          <a:prstGeom prst="rect">
            <a:avLst/>
          </a:prstGeom>
          <a:noFill/>
        </p:spPr>
        <p:txBody>
          <a:bodyPr wrap="square">
            <a:spAutoFit/>
          </a:bodyPr>
          <a:lstStyle/>
          <a:p>
            <a:pPr algn="l">
              <a:defRPr sz="1400" b="0">
                <a:solidFill>
                  <a:srgbClr val="333333"/>
                </a:solidFill>
              </a:defRPr>
            </a:pPr>
            <a:r>
              <a:t>$30+</a:t>
            </a:r>
          </a:p>
        </p:txBody>
      </p:sp>
      <p:sp>
        <p:nvSpPr>
          <p:cNvPr id="34" name="TextBox 33"/>
          <p:cNvSpPr txBox="1"/>
          <p:nvPr/>
        </p:nvSpPr>
        <p:spPr>
          <a:xfrm>
            <a:off x="274320" y="5669280"/>
            <a:ext cx="11430000" cy="731520"/>
          </a:xfrm>
          <a:prstGeom prst="rect">
            <a:avLst/>
          </a:prstGeom>
          <a:noFill/>
        </p:spPr>
        <p:txBody>
          <a:bodyPr wrap="square">
            <a:spAutoFit/>
          </a:bodyPr>
          <a:lstStyle/>
          <a:p>
            <a:pPr algn="l">
              <a:defRPr sz="1300" b="0">
                <a:solidFill>
                  <a:srgbClr val="787878"/>
                </a:solidFill>
              </a:defRPr>
            </a:pPr>
            <a:r>
              <a:t>Daily pipeline (summarize + classify + score): ~$40-70/month.  Runs as a nightly scheduled job.</a:t>
            </a:r>
            <a:br/>
            <a:r>
              <a:t>Bid recommendation (future) is the only premium task — runs only on tenders CGI decides to pursue.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Automated Pipeline Run</a:t>
            </a:r>
          </a:p>
        </p:txBody>
      </p:sp>
      <p:pic>
        <p:nvPicPr>
          <p:cNvPr id="3" name="Picture 2" descr="screenshot_console_output.png"/>
          <p:cNvPicPr>
            <a:picLocks noChangeAspect="1"/>
          </p:cNvPicPr>
          <p:nvPr/>
        </p:nvPicPr>
        <p:blipFill>
          <a:blip r:embed="rId2"/>
          <a:stretch>
            <a:fillRect/>
          </a:stretch>
        </p:blipFill>
        <p:spPr>
          <a:xfrm>
            <a:off x="274320" y="1005840"/>
            <a:ext cx="7315200" cy="6608064"/>
          </a:xfrm>
          <a:prstGeom prst="rect">
            <a:avLst/>
          </a:prstGeom>
        </p:spPr>
      </p:pic>
      <p:sp>
        <p:nvSpPr>
          <p:cNvPr id="4" name="TextBox 3"/>
          <p:cNvSpPr txBox="1"/>
          <p:nvPr/>
        </p:nvSpPr>
        <p:spPr>
          <a:xfrm>
            <a:off x="7863840" y="1005840"/>
            <a:ext cx="4114800" cy="365760"/>
          </a:xfrm>
          <a:prstGeom prst="rect">
            <a:avLst/>
          </a:prstGeom>
          <a:noFill/>
        </p:spPr>
        <p:txBody>
          <a:bodyPr wrap="square">
            <a:spAutoFit/>
          </a:bodyPr>
          <a:lstStyle/>
          <a:p>
            <a:pPr algn="l">
              <a:defRPr sz="1600" b="1">
                <a:solidFill>
                  <a:srgbClr val="0079C1"/>
                </a:solidFill>
              </a:defRPr>
            </a:pPr>
            <a:r>
              <a:t>What happens in one run:</a:t>
            </a:r>
          </a:p>
        </p:txBody>
      </p:sp>
      <p:sp>
        <p:nvSpPr>
          <p:cNvPr id="5" name="TextBox 4"/>
          <p:cNvSpPr txBox="1"/>
          <p:nvPr/>
        </p:nvSpPr>
        <p:spPr>
          <a:xfrm>
            <a:off x="7863840" y="1463040"/>
            <a:ext cx="4114800" cy="4572000"/>
          </a:xfrm>
          <a:prstGeom prst="rect">
            <a:avLst/>
          </a:prstGeom>
          <a:noFill/>
        </p:spPr>
        <p:txBody>
          <a:bodyPr wrap="square">
            <a:spAutoFit/>
          </a:bodyPr>
          <a:lstStyle/>
          <a:p>
            <a:pPr algn="l">
              <a:defRPr sz="1300" b="0">
                <a:solidFill>
                  <a:srgbClr val="333333"/>
                </a:solidFill>
              </a:defRPr>
            </a:pPr>
            <a:r>
              <a:t>1. Browser launches and logs in</a:t>
            </a:r>
            <a:br/>
            <a:r>
              <a:t>   automatically to tarjouspalvelu.fi</a:t>
            </a:r>
            <a:br/>
            <a:br/>
            <a:r>
              <a:t>2. Scrapes all open tenders</a:t>
            </a:r>
            <a:br/>
            <a:r>
              <a:t>   across Finland (100+ per run)</a:t>
            </a:r>
            <a:br/>
            <a:br/>
            <a:r>
              <a:t>3. Classifies each tender:</a:t>
            </a:r>
            <a:br/>
            <a:r>
              <a:t>   open / signal / closed</a:t>
            </a:r>
            <a:br/>
            <a:br/>
            <a:r>
              <a:t>4. AI summarizes in English</a:t>
            </a:r>
            <a:br/>
            <a:br/>
            <a:r>
              <a:t>5. Three-tier routing:</a:t>
            </a:r>
            <a:br/>
            <a:r>
              <a:t>   product alerts, department</a:t>
            </a:r>
            <a:br/>
            <a:r>
              <a:t>   match, or dashboard only</a:t>
            </a:r>
            <a:br/>
            <a:br/>
            <a:r>
              <a:t>6. Sends emails per department</a:t>
            </a:r>
            <a:br/>
            <a:br/>
            <a:r>
              <a:t>Runs nightly as scheduled job.</a:t>
            </a:r>
            <a:br/>
            <a:r>
              <a:t>Total time: ~2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 Get Started</a:t>
            </a:r>
          </a:p>
        </p:txBody>
      </p:sp>
      <p:sp>
        <p:nvSpPr>
          <p:cNvPr id="3" name="Content Placeholder 2"/>
          <p:cNvSpPr>
            <a:spLocks noGrp="1"/>
          </p:cNvSpPr>
          <p:nvPr>
            <p:ph idx="17" sz="quarter"/>
          </p:nvPr>
        </p:nvSpPr>
        <p:spPr/>
        <p:txBody>
          <a:bodyPr/>
          <a:lstStyle/>
          <a:p>
            <a:pPr>
              <a:spcAft>
                <a:spcPts val="500"/>
              </a:spcAft>
              <a:defRPr b="1" sz="1500">
                <a:solidFill>
                  <a:srgbClr val="333333"/>
                </a:solidFill>
              </a:defRPr>
            </a:pPr>
          </a:p>
          <a:p>
            <a:pPr>
              <a:spcAft>
                <a:spcPts val="500"/>
              </a:spcAft>
              <a:defRPr sz="1500">
                <a:solidFill>
                  <a:srgbClr val="333333"/>
                </a:solidFill>
              </a:defRPr>
            </a:pPr>
            <a:r>
              <a:t>1. Which procurement categories?</a:t>
            </a:r>
          </a:p>
          <a:p>
            <a:pPr>
              <a:spcAft>
                <a:spcPts val="500"/>
              </a:spcAft>
              <a:defRPr sz="1500">
                <a:solidFill>
                  <a:srgbClr val="333333"/>
                </a:solidFill>
              </a:defRPr>
            </a:pPr>
            <a:r>
              <a:t>   Service, Health, Works, all?</a:t>
            </a:r>
          </a:p>
          <a:p>
            <a:pPr>
              <a:spcAft>
                <a:spcPts val="500"/>
              </a:spcAft>
              <a:defRPr sz="1500">
                <a:solidFill>
                  <a:srgbClr val="333333"/>
                </a:solidFill>
              </a:defRPr>
            </a:pPr>
          </a:p>
          <a:p>
            <a:pPr>
              <a:spcAft>
                <a:spcPts val="500"/>
              </a:spcAft>
              <a:defRPr sz="1500">
                <a:solidFill>
                  <a:srgbClr val="333333"/>
                </a:solidFill>
              </a:defRPr>
            </a:pPr>
            <a:r>
              <a:t>2. CGI's public sector products?</a:t>
            </a:r>
          </a:p>
          <a:p>
            <a:pPr>
              <a:spcAft>
                <a:spcPts val="500"/>
              </a:spcAft>
              <a:defRPr sz="1500">
                <a:solidFill>
                  <a:srgbClr val="333333"/>
                </a:solidFill>
              </a:defRPr>
            </a:pPr>
            <a:r>
              <a:t>   Aromi, and what else?</a:t>
            </a:r>
          </a:p>
          <a:p>
            <a:pPr>
              <a:spcAft>
                <a:spcPts val="500"/>
              </a:spcAft>
              <a:defRPr sz="1500">
                <a:solidFill>
                  <a:srgbClr val="333333"/>
                </a:solidFill>
              </a:defRPr>
            </a:pPr>
            <a:r>
              <a:t>   → These trigger critical alerts</a:t>
            </a:r>
          </a:p>
          <a:p>
            <a:pPr>
              <a:spcAft>
                <a:spcPts val="500"/>
              </a:spcAft>
              <a:defRPr sz="1500">
                <a:solidFill>
                  <a:srgbClr val="333333"/>
                </a:solidFill>
              </a:defRPr>
            </a:pPr>
          </a:p>
          <a:p>
            <a:pPr>
              <a:spcAft>
                <a:spcPts val="500"/>
              </a:spcAft>
              <a:defRPr sz="1500">
                <a:solidFill>
                  <a:srgbClr val="333333"/>
                </a:solidFill>
              </a:defRPr>
            </a:pPr>
            <a:r>
              <a:t>3. Department keywords + contacts</a:t>
            </a:r>
          </a:p>
          <a:p>
            <a:pPr>
              <a:spcAft>
                <a:spcPts val="500"/>
              </a:spcAft>
              <a:defRPr sz="1500">
                <a:solidFill>
                  <a:srgbClr val="333333"/>
                </a:solidFill>
              </a:defRPr>
            </a:pPr>
            <a:r>
              <a:t>   Who gets what, at which email?</a:t>
            </a:r>
          </a:p>
          <a:p>
            <a:pPr>
              <a:spcAft>
                <a:spcPts val="500"/>
              </a:spcAft>
              <a:defRPr sz="1500">
                <a:solidFill>
                  <a:srgbClr val="333333"/>
                </a:solidFill>
              </a:defRPr>
            </a:pPr>
          </a:p>
          <a:p>
            <a:pPr>
              <a:spcAft>
                <a:spcPts val="500"/>
              </a:spcAft>
              <a:defRPr sz="1500">
                <a:solidFill>
                  <a:srgbClr val="333333"/>
                </a:solidFill>
              </a:defRPr>
            </a:pPr>
            <a:r>
              <a:t>4. Service account for tarjouspalvelu.fi</a:t>
            </a:r>
          </a:p>
          <a:p>
            <a:pPr>
              <a:spcAft>
                <a:spcPts val="500"/>
              </a:spcAft>
              <a:defRPr sz="1500">
                <a:solidFill>
                  <a:srgbClr val="333333"/>
                </a:solidFill>
              </a:defRPr>
            </a:pPr>
            <a:r>
              <a:t>   (currently using personal login)</a:t>
            </a:r>
          </a:p>
        </p:txBody>
      </p:sp>
      <p:sp>
        <p:nvSpPr>
          <p:cNvPr id="4" name="Content Placeholder 3"/>
          <p:cNvSpPr>
            <a:spLocks noGrp="1"/>
          </p:cNvSpPr>
          <p:nvPr>
            <p:ph idx="23" sz="quarter"/>
          </p:nvPr>
        </p:nvSpPr>
        <p:spPr/>
        <p:txBody>
          <a:bodyPr/>
          <a:lstStyle/>
          <a:p>
            <a:pPr>
              <a:spcAft>
                <a:spcPts val="500"/>
              </a:spcAft>
              <a:defRPr b="1" sz="1500">
                <a:solidFill>
                  <a:srgbClr val="333333"/>
                </a:solidFill>
              </a:defRPr>
            </a:pPr>
          </a:p>
          <a:p>
            <a:pPr>
              <a:spcAft>
                <a:spcPts val="500"/>
              </a:spcAft>
              <a:defRPr sz="1500">
                <a:solidFill>
                  <a:srgbClr val="333333"/>
                </a:solidFill>
              </a:defRPr>
            </a:pPr>
            <a:r>
              <a:t>1. Configure filters and routing</a:t>
            </a:r>
          </a:p>
          <a:p>
            <a:pPr>
              <a:spcAft>
                <a:spcPts val="500"/>
              </a:spcAft>
              <a:defRPr sz="1500">
                <a:solidFill>
                  <a:srgbClr val="333333"/>
                </a:solidFill>
              </a:defRPr>
            </a:pPr>
            <a:r>
              <a:t>   Based on your answers</a:t>
            </a:r>
          </a:p>
          <a:p>
            <a:pPr>
              <a:spcAft>
                <a:spcPts val="500"/>
              </a:spcAft>
              <a:defRPr sz="1500">
                <a:solidFill>
                  <a:srgbClr val="333333"/>
                </a:solidFill>
              </a:defRPr>
            </a:pPr>
          </a:p>
          <a:p>
            <a:pPr>
              <a:spcAft>
                <a:spcPts val="500"/>
              </a:spcAft>
              <a:defRPr sz="1500">
                <a:solidFill>
                  <a:srgbClr val="333333"/>
                </a:solidFill>
              </a:defRPr>
            </a:pPr>
            <a:r>
              <a:t>2. First pilot run — all of Finland</a:t>
            </a:r>
          </a:p>
          <a:p>
            <a:pPr>
              <a:spcAft>
                <a:spcPts val="500"/>
              </a:spcAft>
              <a:defRPr sz="1500">
                <a:solidFill>
                  <a:srgbClr val="333333"/>
                </a:solidFill>
              </a:defRPr>
            </a:pPr>
            <a:r>
              <a:t>   Review: are we catching the right ones?</a:t>
            </a:r>
          </a:p>
          <a:p>
            <a:pPr>
              <a:spcAft>
                <a:spcPts val="500"/>
              </a:spcAft>
              <a:defRPr sz="1500">
                <a:solidFill>
                  <a:srgbClr val="333333"/>
                </a:solidFill>
              </a:defRPr>
            </a:pPr>
          </a:p>
          <a:p>
            <a:pPr>
              <a:spcAft>
                <a:spcPts val="500"/>
              </a:spcAft>
              <a:defRPr sz="1500">
                <a:solidFill>
                  <a:srgbClr val="333333"/>
                </a:solidFill>
              </a:defRPr>
            </a:pPr>
            <a:r>
              <a:t>3. Iterate on keywords and filters</a:t>
            </a:r>
          </a:p>
          <a:p>
            <a:pPr>
              <a:spcAft>
                <a:spcPts val="500"/>
              </a:spcAft>
              <a:defRPr sz="1500">
                <a:solidFill>
                  <a:srgbClr val="333333"/>
                </a:solidFill>
              </a:defRPr>
            </a:pPr>
            <a:r>
              <a:t>   Fine-tune based on feedback</a:t>
            </a:r>
          </a:p>
          <a:p>
            <a:pPr>
              <a:spcAft>
                <a:spcPts val="500"/>
              </a:spcAft>
              <a:defRPr sz="1500">
                <a:solidFill>
                  <a:srgbClr val="333333"/>
                </a:solidFill>
              </a:defRPr>
            </a:pPr>
          </a:p>
          <a:p>
            <a:pPr>
              <a:spcAft>
                <a:spcPts val="500"/>
              </a:spcAft>
              <a:defRPr sz="1500">
                <a:solidFill>
                  <a:srgbClr val="333333"/>
                </a:solidFill>
              </a:defRPr>
            </a:pPr>
            <a:r>
              <a:t>4. Schedule daily automated runs</a:t>
            </a:r>
          </a:p>
          <a:p>
            <a:pPr>
              <a:spcAft>
                <a:spcPts val="500"/>
              </a:spcAft>
              <a:defRPr sz="1500">
                <a:solidFill>
                  <a:srgbClr val="333333"/>
                </a:solidFill>
              </a:defRPr>
            </a:pPr>
          </a:p>
          <a:p>
            <a:pPr>
              <a:spcAft>
                <a:spcPts val="500"/>
              </a:spcAft>
              <a:defRPr sz="1500">
                <a:solidFill>
                  <a:srgbClr val="333333"/>
                </a:solidFill>
              </a:defRPr>
            </a:pPr>
            <a:r>
              <a:t>5. Production deployment</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test" id="{DF41D827-8B6D-0940-A68C-6917A6F85D17}" vid="{539E53E0-8FFD-8044-A077-EE3615A93136}"/>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lcf76f155ced4ddcb4097134ff3c332f xmlns="8b7b9f5f-1e78-43ca-b9fa-4bc4e726914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9B06A1291EAB478CEE040D9CD88093" ma:contentTypeVersion="14" ma:contentTypeDescription="Crée un document." ma:contentTypeScope="" ma:versionID="08fd30cd813519bf3b2485020f27dde8">
  <xsd:schema xmlns:xsd="http://www.w3.org/2001/XMLSchema" xmlns:xs="http://www.w3.org/2001/XMLSchema" xmlns:p="http://schemas.microsoft.com/office/2006/metadata/properties" xmlns:ns2="8b7b9f5f-1e78-43ca-b9fa-4bc4e7269145" xmlns:ns3="d541d1f1-f719-45a6-b9ee-ab70819fd129" targetNamespace="http://schemas.microsoft.com/office/2006/metadata/properties" ma:root="true" ma:fieldsID="eb1442eaa23239aa2b94dfa8faa5018e" ns2:_="" ns3:_="">
    <xsd:import namespace="8b7b9f5f-1e78-43ca-b9fa-4bc4e7269145"/>
    <xsd:import namespace="d541d1f1-f719-45a6-b9ee-ab70819fd12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SearchPropertie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b9f5f-1e78-43ca-b9fa-4bc4e7269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b8b33ce-f9d1-42dd-af72-61acb746de3d"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41d1f1-f719-45a6-b9ee-ab70819fd12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2F4C4F6A-F6A5-45C8-BAAA-52FB70E387C7}">
  <ds:schemaRefs>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8b7b9f5f-1e78-43ca-b9fa-4bc4e7269145"/>
    <ds:schemaRef ds:uri="http://schemas.microsoft.com/office/2006/metadata/properties"/>
    <ds:schemaRef ds:uri="http://schemas.openxmlformats.org/package/2006/metadata/core-properties"/>
    <ds:schemaRef ds:uri="d541d1f1-f719-45a6-b9ee-ab70819fd129"/>
    <ds:schemaRef ds:uri="http://purl.org/dc/dcmitype/"/>
  </ds:schemaRefs>
</ds:datastoreItem>
</file>

<file path=customXml/itemProps3.xml><?xml version="1.0" encoding="utf-8"?>
<ds:datastoreItem xmlns:ds="http://schemas.openxmlformats.org/officeDocument/2006/customXml" ds:itemID="{17F270CB-DEA5-40C0-9B7F-AB596A4DF1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7b9f5f-1e78-43ca-b9fa-4bc4e7269145"/>
    <ds:schemaRef ds:uri="d541d1f1-f719-45a6-b9ee-ab70819fd1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
  <TotalTime>1</TotalTime>
  <Words>3802</Words>
  <Application>Microsoft Macintosh PowerPoint</Application>
  <PresentationFormat>Grand écran</PresentationFormat>
  <Paragraphs>630</Paragraphs>
  <Slides>49</Slides>
  <Notes>14</Notes>
  <HiddenSlides>7</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49</vt:i4>
      </vt:variant>
    </vt:vector>
  </HeadingPairs>
  <TitlesOfParts>
    <vt:vector size="57" baseType="lpstr">
      <vt:lpstr>.Hiragino Kaku Gothic Interface W3</vt:lpstr>
      <vt:lpstr>Arial</vt:lpstr>
      <vt:lpstr>Calibri</vt:lpstr>
      <vt:lpstr>Courier New</vt:lpstr>
      <vt:lpstr>Segoe UI</vt:lpstr>
      <vt:lpstr>Verdana</vt:lpstr>
      <vt:lpstr>Wingdings</vt:lpstr>
      <vt:lpstr>CGI Slide Master</vt:lpstr>
      <vt:lpstr>Standard Presentation Template</vt:lpstr>
      <vt:lpstr>Brand Source is your single source for everything related to the brand and branded PowerPoints!</vt:lpstr>
      <vt:lpstr>You can now access our templates directly from PowerPoint</vt:lpstr>
      <vt:lpstr>Advancing accessibility</vt:lpstr>
      <vt:lpstr>CGI colors</vt:lpstr>
      <vt:lpstr>CGI colors in PowerPoint</vt:lpstr>
      <vt:lpstr>Ready-to-use graphic components</vt:lpstr>
      <vt:lpstr>Buttons</vt:lpstr>
      <vt:lpstr>Cover title slide with gradient A</vt:lpstr>
      <vt:lpstr>Cover title slide with cornerstone A</vt:lpstr>
      <vt:lpstr>Cover title slide with cornerstone B</vt:lpstr>
      <vt:lpstr>Cover title slide with cornerstone C</vt:lpstr>
      <vt:lpstr>Cover title slide with cornerstone D</vt:lpstr>
      <vt:lpstr>Cover title slide with cornerstone E</vt:lpstr>
      <vt:lpstr>Cover title slide with original image</vt:lpstr>
      <vt:lpstr>Agenda slide layout 1</vt:lpstr>
      <vt:lpstr>Agenda slide layout 4</vt:lpstr>
      <vt:lpstr>Standard content slide</vt:lpstr>
      <vt:lpstr>Content slide + preset graphic device</vt:lpstr>
      <vt:lpstr>Content slide with two content columns</vt:lpstr>
      <vt:lpstr>Content slide with editable laptop screen</vt:lpstr>
      <vt:lpstr>Slide title</vt:lpstr>
      <vt:lpstr>Slide title 2</vt:lpstr>
      <vt:lpstr>Slide title 3</vt:lpstr>
      <vt:lpstr>Slide title 4</vt:lpstr>
      <vt:lpstr>Title only slide (donut chart + text example) </vt:lpstr>
      <vt:lpstr>Title only slide (stacked columns chart example)</vt:lpstr>
      <vt:lpstr>Title only slide (clustered column chart + text example)</vt:lpstr>
      <vt:lpstr>Title only slide (flow chart example)</vt:lpstr>
      <vt:lpstr>Title + lower subtitle slide (financial table example)</vt:lpstr>
      <vt:lpstr>New section title 1</vt:lpstr>
      <vt:lpstr>New section title 2</vt:lpstr>
      <vt:lpstr>New section title 3</vt:lpstr>
      <vt:lpstr>New section title 4</vt:lpstr>
      <vt:lpstr>New section title 5</vt:lpstr>
      <vt:lpstr>Slide title 6</vt:lpstr>
      <vt:lpstr>Placeholder text which  should go on 2 lines.</vt:lpstr>
      <vt:lpstr>Content highlight or quote slide (gradient A)</vt:lpstr>
      <vt:lpstr>Content highlight or quote 2x slide (gradient B)</vt:lpstr>
      <vt:lpstr>CV/Resume slide – Layout 1</vt:lpstr>
      <vt:lpstr>First and Last name</vt:lpstr>
      <vt:lpstr>First and Last name continued</vt:lpstr>
      <vt:lpstr>Team slide with 2 individuals (layout B)</vt:lpstr>
      <vt:lpstr>Team slide with 3 individuals (layout B)</vt:lpstr>
      <vt:lpstr>Team slide with 4 individuals (layout B)</vt:lpstr>
      <vt:lpstr>Team slide with 5 individuals (layout B)</vt:lpstr>
      <vt:lpstr>Team slide with 10 individuals (layout B)</vt:lpstr>
      <vt:lpstr>Closing contact us slide (gradient A)</vt:lpstr>
      <vt:lpstr>Insights you can act on  Founded in 1976, CGI is among the largest IT and business consulting services firms in the world.  We are insights-driven and outcomes-focused to help accelerate returns on your investments. Across hundreds of locations worldwide, we provide comprehensive, scalable and sustainable  IT and business consulting services that are informed globally  and delivered locally.</vt:lpstr>
    </vt:vector>
  </TitlesOfParts>
  <Manager>cgi.brand.crp@cgi.com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Leroy, Sandra</dc:creator>
  <cp:keywords>CGI, PowerPoint, template, brand, CGI</cp:keywords>
  <dc:description/>
  <cp:lastModifiedBy>Leroy, Sandra</cp:lastModifiedBy>
  <cp:revision>1</cp:revision>
  <dcterms:created xsi:type="dcterms:W3CDTF">2026-01-05T18:44:42Z</dcterms:created>
  <dcterms:modified xsi:type="dcterms:W3CDTF">2026-01-05T18:47:54Z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0x0101003A9B06A1291EAB478CEE040D9CD88093</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